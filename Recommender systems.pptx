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55"/>
  </p:notesMasterIdLst>
  <p:sldIdLst>
    <p:sldId id="256" r:id="rId2"/>
    <p:sldId id="412" r:id="rId3"/>
    <p:sldId id="463" r:id="rId4"/>
    <p:sldId id="545" r:id="rId5"/>
    <p:sldId id="548" r:id="rId6"/>
    <p:sldId id="546" r:id="rId7"/>
    <p:sldId id="423" r:id="rId8"/>
    <p:sldId id="509" r:id="rId9"/>
    <p:sldId id="425" r:id="rId10"/>
    <p:sldId id="426" r:id="rId11"/>
    <p:sldId id="465" r:id="rId12"/>
    <p:sldId id="466" r:id="rId13"/>
    <p:sldId id="468" r:id="rId14"/>
    <p:sldId id="427" r:id="rId15"/>
    <p:sldId id="428" r:id="rId16"/>
    <p:sldId id="430" r:id="rId17"/>
    <p:sldId id="432" r:id="rId18"/>
    <p:sldId id="553" r:id="rId19"/>
    <p:sldId id="554" r:id="rId20"/>
    <p:sldId id="555" r:id="rId21"/>
    <p:sldId id="556" r:id="rId22"/>
    <p:sldId id="539" r:id="rId23"/>
    <p:sldId id="540" r:id="rId24"/>
    <p:sldId id="541" r:id="rId25"/>
    <p:sldId id="542" r:id="rId26"/>
    <p:sldId id="549" r:id="rId27"/>
    <p:sldId id="436" r:id="rId28"/>
    <p:sldId id="550" r:id="rId29"/>
    <p:sldId id="547" r:id="rId30"/>
    <p:sldId id="415" r:id="rId31"/>
    <p:sldId id="543" r:id="rId32"/>
    <p:sldId id="416" r:id="rId33"/>
    <p:sldId id="414" r:id="rId34"/>
    <p:sldId id="417" r:id="rId35"/>
    <p:sldId id="418" r:id="rId36"/>
    <p:sldId id="419" r:id="rId37"/>
    <p:sldId id="420" r:id="rId38"/>
    <p:sldId id="421" r:id="rId39"/>
    <p:sldId id="422" r:id="rId40"/>
    <p:sldId id="483" r:id="rId41"/>
    <p:sldId id="522" r:id="rId42"/>
    <p:sldId id="523" r:id="rId43"/>
    <p:sldId id="524" r:id="rId44"/>
    <p:sldId id="525" r:id="rId45"/>
    <p:sldId id="535" r:id="rId46"/>
    <p:sldId id="488" r:id="rId47"/>
    <p:sldId id="526" r:id="rId48"/>
    <p:sldId id="557" r:id="rId49"/>
    <p:sldId id="528" r:id="rId50"/>
    <p:sldId id="490" r:id="rId51"/>
    <p:sldId id="449" r:id="rId52"/>
    <p:sldId id="450" r:id="rId53"/>
    <p:sldId id="452" r:id="rId5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01"/>
    <p:restoredTop sz="94754"/>
  </p:normalViewPr>
  <p:slideViewPr>
    <p:cSldViewPr snapToGrid="0" snapToObjects="1">
      <p:cViewPr varScale="1">
        <p:scale>
          <a:sx n="99" d="100"/>
          <a:sy n="99" d="100"/>
        </p:scale>
        <p:origin x="172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99" d="100"/>
          <a:sy n="99" d="100"/>
        </p:scale>
        <p:origin x="4272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12FDFD-9333-4E40-AF48-0FCA0DA79036}" type="datetimeFigureOut">
              <a:rPr lang="en-NL" smtClean="0"/>
              <a:t>08/09/2026</a:t>
            </a:fld>
            <a:endParaRPr lang="en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647F97-828E-6342-98BC-52D9FF713FFA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840284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016000" y="788988"/>
            <a:ext cx="5129213" cy="3846512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65200" y="4872038"/>
            <a:ext cx="5222875" cy="46355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95383" tIns="47692" rIns="95383" bIns="47692"/>
          <a:lstStyle/>
          <a:p>
            <a:pPr defTabSz="971550" latinLnBrk="1">
              <a:spcBef>
                <a:spcPct val="0"/>
              </a:spcBef>
            </a:pPr>
            <a:endParaRPr lang="nl-NL" sz="2600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33775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016000" y="788988"/>
            <a:ext cx="5129213" cy="3846512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65200" y="4872038"/>
            <a:ext cx="5222875" cy="46355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95383" tIns="47692" rIns="95383" bIns="47692"/>
          <a:lstStyle/>
          <a:p>
            <a:pPr defTabSz="971550" latinLnBrk="1">
              <a:spcBef>
                <a:spcPct val="0"/>
              </a:spcBef>
            </a:pPr>
            <a:endParaRPr lang="nl-NL" sz="260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25360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016000" y="788988"/>
            <a:ext cx="5129213" cy="3846512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846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65200" y="4872038"/>
            <a:ext cx="5222875" cy="46355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95383" tIns="47692" rIns="95383" bIns="47692"/>
          <a:lstStyle/>
          <a:p>
            <a:pPr defTabSz="971550" latinLnBrk="1">
              <a:spcBef>
                <a:spcPct val="0"/>
              </a:spcBef>
            </a:pPr>
            <a:endParaRPr lang="nl-NL" sz="260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48042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016000" y="788988"/>
            <a:ext cx="5129213" cy="3846512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2051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65200" y="4872038"/>
            <a:ext cx="5222875" cy="46355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95383" tIns="47692" rIns="95383" bIns="47692"/>
          <a:lstStyle/>
          <a:p>
            <a:pPr defTabSz="971550" latinLnBrk="1">
              <a:spcBef>
                <a:spcPct val="0"/>
              </a:spcBef>
            </a:pPr>
            <a:endParaRPr lang="nl-NL" sz="260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63128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770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016000" y="788988"/>
            <a:ext cx="5129213" cy="3846512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88771" name="Rectangle 1027"/>
          <p:cNvSpPr>
            <a:spLocks noGrp="1" noChangeArrowheads="1"/>
          </p:cNvSpPr>
          <p:nvPr>
            <p:ph type="body" idx="1"/>
          </p:nvPr>
        </p:nvSpPr>
        <p:spPr bwMode="auto">
          <a:xfrm>
            <a:off x="965200" y="4872038"/>
            <a:ext cx="5222875" cy="46355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95383" tIns="47692" rIns="95383" bIns="47692"/>
          <a:lstStyle/>
          <a:p>
            <a:pPr defTabSz="971550" latinLnBrk="1">
              <a:spcBef>
                <a:spcPct val="0"/>
              </a:spcBef>
            </a:pPr>
            <a:endParaRPr lang="nl-NL" sz="260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12395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6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016000" y="788988"/>
            <a:ext cx="5129213" cy="3846512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2665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65200" y="4872038"/>
            <a:ext cx="5222875" cy="46355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95383" tIns="47692" rIns="95383" bIns="47692"/>
          <a:lstStyle/>
          <a:p>
            <a:pPr defTabSz="971550" latinLnBrk="1">
              <a:spcBef>
                <a:spcPct val="0"/>
              </a:spcBef>
            </a:pPr>
            <a:endParaRPr lang="nl-NL" sz="260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38322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770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016000" y="788988"/>
            <a:ext cx="5129213" cy="3846512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88771" name="Rectangle 1027"/>
          <p:cNvSpPr>
            <a:spLocks noGrp="1" noChangeArrowheads="1"/>
          </p:cNvSpPr>
          <p:nvPr>
            <p:ph type="body" idx="1"/>
          </p:nvPr>
        </p:nvSpPr>
        <p:spPr bwMode="auto">
          <a:xfrm>
            <a:off x="965200" y="4872038"/>
            <a:ext cx="5222875" cy="46355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95383" tIns="47692" rIns="95383" bIns="47692"/>
          <a:lstStyle/>
          <a:p>
            <a:pPr defTabSz="971550" latinLnBrk="1">
              <a:spcBef>
                <a:spcPct val="0"/>
              </a:spcBef>
            </a:pPr>
            <a:endParaRPr lang="nl-NL" sz="260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93545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770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016000" y="788988"/>
            <a:ext cx="5129213" cy="3846512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88771" name="Rectangle 1027"/>
          <p:cNvSpPr>
            <a:spLocks noGrp="1" noChangeArrowheads="1"/>
          </p:cNvSpPr>
          <p:nvPr>
            <p:ph type="body" idx="1"/>
          </p:nvPr>
        </p:nvSpPr>
        <p:spPr bwMode="auto">
          <a:xfrm>
            <a:off x="965200" y="4872038"/>
            <a:ext cx="5222875" cy="46355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95383" tIns="47692" rIns="95383" bIns="47692"/>
          <a:lstStyle/>
          <a:p>
            <a:pPr defTabSz="971550" latinLnBrk="1">
              <a:spcBef>
                <a:spcPct val="0"/>
              </a:spcBef>
            </a:pPr>
            <a:endParaRPr lang="nl-NL" sz="260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91722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770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016000" y="788988"/>
            <a:ext cx="5129213" cy="3846512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88771" name="Rectangle 1027"/>
          <p:cNvSpPr>
            <a:spLocks noGrp="1" noChangeArrowheads="1"/>
          </p:cNvSpPr>
          <p:nvPr>
            <p:ph type="body" idx="1"/>
          </p:nvPr>
        </p:nvSpPr>
        <p:spPr bwMode="auto">
          <a:xfrm>
            <a:off x="965200" y="4872038"/>
            <a:ext cx="5222875" cy="46355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95383" tIns="47692" rIns="95383" bIns="47692"/>
          <a:lstStyle/>
          <a:p>
            <a:pPr defTabSz="971550" latinLnBrk="1">
              <a:spcBef>
                <a:spcPct val="0"/>
              </a:spcBef>
            </a:pPr>
            <a:endParaRPr lang="nl-NL" sz="260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10892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79488" y="757238"/>
            <a:ext cx="5143500" cy="38576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2973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7738" y="4865688"/>
            <a:ext cx="5203825" cy="4611687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0454" tIns="45228" rIns="90454" bIns="45228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73368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8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90600" y="768350"/>
            <a:ext cx="5118100" cy="38385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58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9613" y="4862513"/>
            <a:ext cx="5680075" cy="46037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4906" tIns="47453" rIns="94906" bIns="47453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98035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79488" y="757238"/>
            <a:ext cx="5143500" cy="38576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99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7738" y="4865688"/>
            <a:ext cx="5203825" cy="4611687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0454" tIns="45228" rIns="90454" bIns="45228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37193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79488" y="757238"/>
            <a:ext cx="5143500" cy="38576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611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7738" y="4865688"/>
            <a:ext cx="5203825" cy="4611687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0454" tIns="45228" rIns="90454" bIns="45228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73086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79488" y="757238"/>
            <a:ext cx="5143500" cy="38576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840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7738" y="4865688"/>
            <a:ext cx="5203825" cy="4611687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0454" tIns="45228" rIns="90454" bIns="45228"/>
          <a:lstStyle/>
          <a:p>
            <a:r>
              <a:rPr lang="en-GB" b="1" dirty="0">
                <a:solidFill>
                  <a:srgbClr val="800000"/>
                </a:solidFill>
              </a:rPr>
              <a:t>Collaborative filtering: summary</a:t>
            </a:r>
            <a:endParaRPr lang="en-US" b="1" dirty="0">
              <a:solidFill>
                <a:srgbClr val="8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589630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016000" y="788988"/>
            <a:ext cx="5129213" cy="3846512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78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65200" y="4872038"/>
            <a:ext cx="5222875" cy="46355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95383" tIns="47692" rIns="95383" bIns="47692"/>
          <a:lstStyle/>
          <a:p>
            <a:pPr defTabSz="971550" latinLnBrk="1">
              <a:spcBef>
                <a:spcPct val="0"/>
              </a:spcBef>
            </a:pPr>
            <a:endParaRPr lang="nl-NL" sz="260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817566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016000" y="788988"/>
            <a:ext cx="5129213" cy="3846512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314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65200" y="4872038"/>
            <a:ext cx="5222875" cy="46355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95383" tIns="47692" rIns="95383" bIns="47692"/>
          <a:lstStyle/>
          <a:p>
            <a:pPr defTabSz="971550" latinLnBrk="1">
              <a:spcBef>
                <a:spcPct val="0"/>
              </a:spcBef>
            </a:pPr>
            <a:endParaRPr lang="nl-NL" sz="260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63941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016000" y="788988"/>
            <a:ext cx="5129213" cy="3846512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46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65200" y="4872038"/>
            <a:ext cx="5222875" cy="46355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95383" tIns="47692" rIns="95383" bIns="47692"/>
          <a:lstStyle/>
          <a:p>
            <a:pPr defTabSz="971550" latinLnBrk="1">
              <a:spcBef>
                <a:spcPct val="0"/>
              </a:spcBef>
            </a:pPr>
            <a:endParaRPr lang="nl-NL" sz="260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658596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016000" y="788988"/>
            <a:ext cx="5129213" cy="3846512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2937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65200" y="4872038"/>
            <a:ext cx="5222875" cy="46355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95383" tIns="47692" rIns="95383" bIns="47692"/>
          <a:lstStyle/>
          <a:p>
            <a:pPr defTabSz="971550" latinLnBrk="1">
              <a:spcBef>
                <a:spcPct val="0"/>
              </a:spcBef>
            </a:pPr>
            <a:endParaRPr lang="nl-NL" sz="260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452652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016000" y="788988"/>
            <a:ext cx="5129213" cy="3846512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826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65200" y="4872038"/>
            <a:ext cx="5222875" cy="46355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95383" tIns="47692" rIns="95383" bIns="47692"/>
          <a:lstStyle/>
          <a:p>
            <a:pPr defTabSz="971550" latinLnBrk="1">
              <a:spcBef>
                <a:spcPct val="0"/>
              </a:spcBef>
            </a:pPr>
            <a:endParaRPr lang="nl-NL" sz="260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283670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016000" y="788988"/>
            <a:ext cx="5129213" cy="3846512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257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65200" y="4872038"/>
            <a:ext cx="5222875" cy="46355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95383" tIns="47692" rIns="95383" bIns="47692"/>
          <a:lstStyle/>
          <a:p>
            <a:pPr defTabSz="971550" latinLnBrk="1">
              <a:spcBef>
                <a:spcPct val="0"/>
              </a:spcBef>
            </a:pPr>
            <a:endParaRPr lang="nl-NL" sz="260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751076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016000" y="788988"/>
            <a:ext cx="5129213" cy="3846512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97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65200" y="4872038"/>
            <a:ext cx="5222875" cy="46355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95383" tIns="47692" rIns="95383" bIns="47692"/>
          <a:lstStyle/>
          <a:p>
            <a:pPr defTabSz="971550" latinLnBrk="1">
              <a:spcBef>
                <a:spcPct val="0"/>
              </a:spcBef>
            </a:pPr>
            <a:endParaRPr lang="nl-NL" sz="260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577207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016000" y="788988"/>
            <a:ext cx="5129213" cy="3846512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65200" y="4872038"/>
            <a:ext cx="5222875" cy="46355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95383" tIns="47692" rIns="95383" bIns="47692"/>
          <a:lstStyle/>
          <a:p>
            <a:pPr defTabSz="971550" latinLnBrk="1">
              <a:spcBef>
                <a:spcPct val="0"/>
              </a:spcBef>
            </a:pPr>
            <a:endParaRPr lang="nl-NL" sz="260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379987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016000" y="788988"/>
            <a:ext cx="5129213" cy="3846512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696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65200" y="4872038"/>
            <a:ext cx="5222875" cy="46355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95383" tIns="47692" rIns="95383" bIns="47692"/>
          <a:lstStyle/>
          <a:p>
            <a:pPr defTabSz="971550" latinLnBrk="1">
              <a:spcBef>
                <a:spcPct val="0"/>
              </a:spcBef>
            </a:pPr>
            <a:endParaRPr lang="nl-NL" sz="260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792131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016000" y="788988"/>
            <a:ext cx="5129213" cy="3846512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696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65200" y="4872038"/>
            <a:ext cx="5222875" cy="46355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95383" tIns="47692" rIns="95383" bIns="47692"/>
          <a:lstStyle/>
          <a:p>
            <a:pPr defTabSz="971550" latinLnBrk="1">
              <a:spcBef>
                <a:spcPct val="0"/>
              </a:spcBef>
            </a:pPr>
            <a:endParaRPr lang="nl-NL" sz="260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156860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NN 4</a:t>
            </a:r>
          </a:p>
        </p:txBody>
      </p:sp>
      <p:sp>
        <p:nvSpPr>
          <p:cNvPr id="5427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Wojtek Kowalczyk</a:t>
            </a:r>
          </a:p>
        </p:txBody>
      </p:sp>
      <p:sp>
        <p:nvSpPr>
          <p:cNvPr id="5427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9B906A4-1B6C-40DD-BD75-FE338FF00231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5427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8538" y="773113"/>
            <a:ext cx="5102225" cy="3825875"/>
          </a:xfrm>
          <a:solidFill>
            <a:srgbClr val="FFFFFF"/>
          </a:solidFill>
          <a:ln/>
        </p:spPr>
      </p:sp>
      <p:sp>
        <p:nvSpPr>
          <p:cNvPr id="5427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1336" y="4860088"/>
            <a:ext cx="5208926" cy="4606253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5399" tIns="47700" rIns="95399" bIns="47700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875485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016000" y="788988"/>
            <a:ext cx="5129213" cy="3846512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65200" y="4872038"/>
            <a:ext cx="5222875" cy="46355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95383" tIns="47692" rIns="95383" bIns="47692"/>
          <a:lstStyle/>
          <a:p>
            <a:pPr defTabSz="971550" latinLnBrk="1">
              <a:spcBef>
                <a:spcPct val="0"/>
              </a:spcBef>
            </a:pPr>
            <a:endParaRPr lang="nl-NL" sz="260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52048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016000" y="788988"/>
            <a:ext cx="5129213" cy="3846512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696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65200" y="4872038"/>
            <a:ext cx="5222875" cy="46355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95383" tIns="47692" rIns="95383" bIns="47692"/>
          <a:lstStyle/>
          <a:p>
            <a:pPr defTabSz="971550" latinLnBrk="1">
              <a:spcBef>
                <a:spcPct val="0"/>
              </a:spcBef>
            </a:pPr>
            <a:endParaRPr lang="nl-NL" sz="260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717359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9CB649-8105-95AA-230A-03A9DC8BB9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62" name="Rectangle 2">
            <a:extLst>
              <a:ext uri="{FF2B5EF4-FFF2-40B4-BE49-F238E27FC236}">
                <a16:creationId xmlns:a16="http://schemas.microsoft.com/office/drawing/2014/main" id="{485360B8-1BD8-F154-17FA-CDC68EAF5BA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016000" y="788988"/>
            <a:ext cx="5129213" cy="3846512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6963" name="Rectangle 3">
            <a:extLst>
              <a:ext uri="{FF2B5EF4-FFF2-40B4-BE49-F238E27FC236}">
                <a16:creationId xmlns:a16="http://schemas.microsoft.com/office/drawing/2014/main" id="{ACF7FFCE-C08B-3B6D-85A2-2F8DE5C52B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65200" y="4872038"/>
            <a:ext cx="5222875" cy="46355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95383" tIns="47692" rIns="95383" bIns="47692"/>
          <a:lstStyle/>
          <a:p>
            <a:pPr defTabSz="971550" latinLnBrk="1">
              <a:spcBef>
                <a:spcPct val="0"/>
              </a:spcBef>
            </a:pPr>
            <a:endParaRPr lang="nl-NL" sz="260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07558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016000" y="788988"/>
            <a:ext cx="5129213" cy="3846512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696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65200" y="4872038"/>
            <a:ext cx="5222875" cy="46355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95383" tIns="47692" rIns="95383" bIns="47692"/>
          <a:lstStyle/>
          <a:p>
            <a:pPr defTabSz="971550" latinLnBrk="1">
              <a:spcBef>
                <a:spcPct val="0"/>
              </a:spcBef>
            </a:pPr>
            <a:endParaRPr lang="nl-NL" sz="260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065652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016000" y="788988"/>
            <a:ext cx="5129213" cy="3846512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65200" y="4872038"/>
            <a:ext cx="5222875" cy="46355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95383" tIns="47692" rIns="95383" bIns="47692"/>
          <a:lstStyle/>
          <a:p>
            <a:pPr defTabSz="971550" latinLnBrk="1">
              <a:spcBef>
                <a:spcPct val="0"/>
              </a:spcBef>
            </a:pPr>
            <a:endParaRPr lang="nl-NL" sz="260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407845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016000" y="788988"/>
            <a:ext cx="5129213" cy="3846512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6009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65200" y="4872038"/>
            <a:ext cx="5222875" cy="46355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95383" tIns="47692" rIns="95383" bIns="47692"/>
          <a:lstStyle/>
          <a:p>
            <a:pPr defTabSz="971550" latinLnBrk="1">
              <a:spcBef>
                <a:spcPct val="0"/>
              </a:spcBef>
            </a:pPr>
            <a:endParaRPr lang="nl-NL" sz="260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068606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6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016000" y="788988"/>
            <a:ext cx="5129213" cy="3846512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6761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65200" y="4872038"/>
            <a:ext cx="5222875" cy="46355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95383" tIns="47692" rIns="95383" bIns="47692"/>
          <a:lstStyle/>
          <a:p>
            <a:pPr defTabSz="971550" latinLnBrk="1">
              <a:spcBef>
                <a:spcPct val="0"/>
              </a:spcBef>
            </a:pPr>
            <a:endParaRPr lang="nl-NL" sz="260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92403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 b="1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D0DB70E-EB0C-4E4A-8CBE-763DB3585B7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5125" y="6063918"/>
            <a:ext cx="2188657" cy="697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84414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65127"/>
            <a:ext cx="9144000" cy="761030"/>
          </a:xfrm>
        </p:spPr>
        <p:txBody>
          <a:bodyPr/>
          <a:lstStyle>
            <a:lvl1pPr algn="ctr">
              <a:defRPr b="1">
                <a:latin typeface="+mn-lt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289785"/>
            <a:ext cx="7886700" cy="538052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98776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65126"/>
            <a:ext cx="9144000" cy="761030"/>
          </a:xfrm>
        </p:spPr>
        <p:txBody>
          <a:bodyPr/>
          <a:lstStyle>
            <a:lvl1pPr algn="ctr">
              <a:defRPr b="1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91A6427-87A9-E245-938E-A1E8142930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58988" y="6492874"/>
            <a:ext cx="38501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085F59-D6FC-5047-B8EE-2B81AB70F1B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0723283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D098DD2-EA21-0245-BC69-4F8057FAA5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49364" y="6492875"/>
            <a:ext cx="3946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085F59-D6FC-5047-B8EE-2B81AB70F1B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9844632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/>
          </p:nvPr>
        </p:nvSpPr>
        <p:spPr>
          <a:xfrm>
            <a:off x="685800" y="609600"/>
            <a:ext cx="7772400" cy="5486400"/>
          </a:xfrm>
        </p:spPr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16182A19-397F-4ABE-8567-83BE80D655A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10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ED3198-DFC2-E64E-A6DE-A679ACF5C728}" type="datetimeFigureOut">
              <a:rPr lang="en-NL" smtClean="0"/>
              <a:t>08/09/2026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085F59-D6FC-5047-B8EE-2B81AB70F1B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984553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6" r:id="rId3"/>
    <p:sldLayoutId id="2147483667" r:id="rId4"/>
    <p:sldLayoutId id="2147483668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emf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wmf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22.wmf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e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26.emf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Netflix_Prize" TargetMode="Externa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www.cs.uic.edu/~liub/KDD-cup-2007/proceedings.html" TargetMode="External"/><Relationship Id="rId4" Type="http://schemas.openxmlformats.org/officeDocument/2006/relationships/hyperlink" Target="http://sifter.org/~simon/journal/20061211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98BE1-9899-DE49-B3A4-50892D98BEB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NL" dirty="0"/>
              <a:t>Recommender Systems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90FE9D-FC2A-8143-A04A-6EB33F5FDEA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NL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9CFB4F-DD33-46B7-3047-5FCAE058506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4543" b="36053"/>
          <a:stretch/>
        </p:blipFill>
        <p:spPr>
          <a:xfrm>
            <a:off x="2913442" y="5735637"/>
            <a:ext cx="6021658" cy="929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6706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>
            <a:normAutofit/>
          </a:bodyPr>
          <a:lstStyle/>
          <a:p>
            <a:r>
              <a:rPr lang="en-US" dirty="0"/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0EC03A-FAD4-5CC2-F8A9-4A7D534502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defTabSz="571500">
              <a:lnSpc>
                <a:spcPct val="100000"/>
              </a:lnSpc>
              <a:buSzPct val="130000"/>
            </a:pPr>
            <a:r>
              <a:rPr lang="en-US" sz="1800" dirty="0"/>
              <a:t>Recommender Systems</a:t>
            </a:r>
          </a:p>
          <a:p>
            <a:pPr defTabSz="571500">
              <a:lnSpc>
                <a:spcPct val="100000"/>
              </a:lnSpc>
              <a:buSzPct val="130000"/>
            </a:pPr>
            <a:r>
              <a:rPr lang="en-US" sz="1800" dirty="0"/>
              <a:t>How do they work?</a:t>
            </a:r>
          </a:p>
          <a:p>
            <a:pPr defTabSz="571500">
              <a:lnSpc>
                <a:spcPct val="100000"/>
              </a:lnSpc>
              <a:buSzPct val="130000"/>
            </a:pPr>
            <a:r>
              <a:rPr lang="en-US" sz="1800" dirty="0"/>
              <a:t>Content-based methods</a:t>
            </a:r>
          </a:p>
          <a:p>
            <a:pPr defTabSz="571500">
              <a:lnSpc>
                <a:spcPct val="100000"/>
              </a:lnSpc>
              <a:buSzPct val="130000"/>
            </a:pPr>
            <a:r>
              <a:rPr lang="en-US" sz="1800" dirty="0"/>
              <a:t>Collaborative Filtering</a:t>
            </a:r>
          </a:p>
          <a:p>
            <a:pPr lvl="1" defTabSz="571500">
              <a:lnSpc>
                <a:spcPct val="100000"/>
              </a:lnSpc>
              <a:buSzPct val="130000"/>
            </a:pPr>
            <a:r>
              <a:rPr lang="en-US" sz="1600" dirty="0"/>
              <a:t>Item-to-item</a:t>
            </a:r>
          </a:p>
          <a:p>
            <a:pPr lvl="1" defTabSz="571500">
              <a:lnSpc>
                <a:spcPct val="100000"/>
              </a:lnSpc>
              <a:buSzPct val="130000"/>
            </a:pPr>
            <a:r>
              <a:rPr lang="en-US" sz="1600" dirty="0"/>
              <a:t>User-to-user</a:t>
            </a:r>
          </a:p>
          <a:p>
            <a:pPr lvl="1" defTabSz="571500">
              <a:lnSpc>
                <a:spcPct val="100000"/>
              </a:lnSpc>
              <a:buSzPct val="130000"/>
            </a:pPr>
            <a:endParaRPr lang="en-US" sz="1400" dirty="0"/>
          </a:p>
          <a:p>
            <a:pPr defTabSz="571500">
              <a:lnSpc>
                <a:spcPct val="100000"/>
              </a:lnSpc>
              <a:buSzPct val="130000"/>
            </a:pPr>
            <a:r>
              <a:rPr lang="en-US" sz="1800" dirty="0"/>
              <a:t>Motivation: Netflix Challenge</a:t>
            </a:r>
          </a:p>
          <a:p>
            <a:pPr defTabSz="571500">
              <a:lnSpc>
                <a:spcPct val="100000"/>
              </a:lnSpc>
              <a:buSzPct val="130000"/>
            </a:pPr>
            <a:r>
              <a:rPr lang="en-US" sz="1800" dirty="0"/>
              <a:t>Matrix </a:t>
            </a:r>
            <a:r>
              <a:rPr lang="en-US" sz="1800" dirty="0" err="1"/>
              <a:t>Factorisation</a:t>
            </a:r>
            <a:endParaRPr lang="en-NL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>
            <a:normAutofit/>
          </a:bodyPr>
          <a:lstStyle/>
          <a:p>
            <a:r>
              <a:rPr lang="en-US" dirty="0"/>
              <a:t>Recommender Systems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3BEC616-718B-0321-C860-71A3A601D2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89785"/>
            <a:ext cx="7816707" cy="5380522"/>
          </a:xfrm>
        </p:spPr>
        <p:txBody>
          <a:bodyPr>
            <a:normAutofit/>
          </a:bodyPr>
          <a:lstStyle/>
          <a:p>
            <a:r>
              <a:rPr lang="en-GB" sz="1800" dirty="0"/>
              <a:t>Systems that can estimate, for any user </a:t>
            </a:r>
            <a:r>
              <a:rPr lang="en-GB" sz="1800" i="1" dirty="0"/>
              <a:t>u</a:t>
            </a:r>
            <a:r>
              <a:rPr lang="en-GB" sz="1800" dirty="0"/>
              <a:t> and item </a:t>
            </a:r>
            <a:r>
              <a:rPr lang="en-GB" sz="1800" i="1" dirty="0" err="1"/>
              <a:t>i</a:t>
            </a:r>
            <a:r>
              <a:rPr lang="en-GB" sz="1800" dirty="0"/>
              <a:t> the degree of interest/satisfaction/importance of </a:t>
            </a:r>
            <a:r>
              <a:rPr lang="en-GB" sz="1800" i="1" dirty="0"/>
              <a:t>u</a:t>
            </a:r>
            <a:r>
              <a:rPr lang="en-GB" sz="1800" dirty="0"/>
              <a:t> in </a:t>
            </a:r>
            <a:r>
              <a:rPr lang="en-GB" sz="1800" i="1" dirty="0" err="1"/>
              <a:t>i</a:t>
            </a:r>
            <a:endParaRPr lang="en-GB" sz="1800" i="1" dirty="0"/>
          </a:p>
          <a:p>
            <a:endParaRPr lang="en-GB" sz="1800" dirty="0"/>
          </a:p>
          <a:p>
            <a:r>
              <a:rPr lang="en-GB" sz="1800" dirty="0"/>
              <a:t>The estimation is based on historical rating, purchase, browsing, etc. data</a:t>
            </a:r>
          </a:p>
          <a:p>
            <a:endParaRPr lang="en-GB" sz="1800" dirty="0"/>
          </a:p>
          <a:p>
            <a:r>
              <a:rPr lang="en-GB" sz="1800" dirty="0"/>
              <a:t>Examples:</a:t>
            </a:r>
          </a:p>
          <a:p>
            <a:pPr lvl="1"/>
            <a:r>
              <a:rPr lang="en-GB" sz="1600" dirty="0" err="1"/>
              <a:t>Amazon.com</a:t>
            </a:r>
            <a:r>
              <a:rPr lang="en-GB" sz="1600" dirty="0"/>
              <a:t>: recommend books</a:t>
            </a:r>
          </a:p>
          <a:p>
            <a:pPr lvl="1"/>
            <a:r>
              <a:rPr lang="en-GB" sz="1600" dirty="0"/>
              <a:t>Netflix: recommend movies</a:t>
            </a:r>
          </a:p>
          <a:p>
            <a:pPr lvl="1"/>
            <a:r>
              <a:rPr lang="en-GB" sz="1600" dirty="0"/>
              <a:t>iTunes: recommend songs, albums, artists</a:t>
            </a:r>
          </a:p>
          <a:p>
            <a:pPr lvl="1"/>
            <a:r>
              <a:rPr lang="en-GB" sz="1600" dirty="0" err="1"/>
              <a:t>booking.com</a:t>
            </a:r>
            <a:r>
              <a:rPr lang="en-GB" sz="1600" dirty="0"/>
              <a:t>, </a:t>
            </a:r>
            <a:r>
              <a:rPr lang="en-GB" sz="1600" dirty="0" err="1"/>
              <a:t>Tripadvisor</a:t>
            </a:r>
            <a:r>
              <a:rPr lang="en-GB" sz="1600" dirty="0"/>
              <a:t>, Spotify, ….</a:t>
            </a:r>
          </a:p>
          <a:p>
            <a:endParaRPr lang="en-GB" sz="1800" dirty="0"/>
          </a:p>
          <a:p>
            <a:endParaRPr lang="en-NL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FCAB0-F1F1-8C88-2B69-8AECE58A1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Recommendation is Everywhere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7B3FB83-F8F2-6487-D646-62750FB33D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2820" y="1858258"/>
            <a:ext cx="7497786" cy="4193074"/>
          </a:xfr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5C3D9BF-7EC6-0CB4-430B-9F52DAF91DAF}"/>
              </a:ext>
            </a:extLst>
          </p:cNvPr>
          <p:cNvCxnSpPr/>
          <p:nvPr/>
        </p:nvCxnSpPr>
        <p:spPr>
          <a:xfrm flipV="1">
            <a:off x="691376" y="2185639"/>
            <a:ext cx="721112" cy="32710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284B5D1-94A3-337C-0F09-5E1EE0BC20FF}"/>
              </a:ext>
            </a:extLst>
          </p:cNvPr>
          <p:cNvCxnSpPr/>
          <p:nvPr/>
        </p:nvCxnSpPr>
        <p:spPr>
          <a:xfrm flipV="1">
            <a:off x="2694879" y="4062761"/>
            <a:ext cx="721112" cy="32710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1D23AE1-D3DD-B563-A8CD-098358BD9D56}"/>
              </a:ext>
            </a:extLst>
          </p:cNvPr>
          <p:cNvCxnSpPr>
            <a:cxnSpLocks/>
          </p:cNvCxnSpPr>
          <p:nvPr/>
        </p:nvCxnSpPr>
        <p:spPr>
          <a:xfrm flipH="1" flipV="1">
            <a:off x="7612566" y="4742986"/>
            <a:ext cx="695093" cy="32710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218908B-0B54-C6A7-29D3-B54A5AB189A4}"/>
              </a:ext>
            </a:extLst>
          </p:cNvPr>
          <p:cNvCxnSpPr/>
          <p:nvPr/>
        </p:nvCxnSpPr>
        <p:spPr>
          <a:xfrm flipV="1">
            <a:off x="1293542" y="5070088"/>
            <a:ext cx="721112" cy="32710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D824144-6BCD-6453-769F-EE104F2B99D5}"/>
              </a:ext>
            </a:extLst>
          </p:cNvPr>
          <p:cNvCxnSpPr/>
          <p:nvPr/>
        </p:nvCxnSpPr>
        <p:spPr>
          <a:xfrm flipV="1">
            <a:off x="4419600" y="5887781"/>
            <a:ext cx="721112" cy="32710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64862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C7A5E61A-2618-A556-015B-97EDADD79DA0}"/>
              </a:ext>
            </a:extLst>
          </p:cNvPr>
          <p:cNvGrpSpPr/>
          <p:nvPr/>
        </p:nvGrpSpPr>
        <p:grpSpPr>
          <a:xfrm>
            <a:off x="1724722" y="1515953"/>
            <a:ext cx="6021658" cy="4401627"/>
            <a:chOff x="1955180" y="706282"/>
            <a:chExt cx="5233639" cy="3826093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C6464B14-4835-7C7F-B950-F9AF24963E0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b="64444"/>
            <a:stretch/>
          </p:blipFill>
          <p:spPr>
            <a:xfrm>
              <a:off x="1955180" y="706282"/>
              <a:ext cx="5233639" cy="1077914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44E7A99-98A7-0258-4588-32D463786FD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55180" y="1784196"/>
              <a:ext cx="5233639" cy="2748179"/>
            </a:xfrm>
            <a:prstGeom prst="rect">
              <a:avLst/>
            </a:prstGeom>
          </p:spPr>
        </p:pic>
      </p:grpSp>
      <p:sp>
        <p:nvSpPr>
          <p:cNvPr id="8" name="Title 7">
            <a:extLst>
              <a:ext uri="{FF2B5EF4-FFF2-40B4-BE49-F238E27FC236}">
                <a16:creationId xmlns:a16="http://schemas.microsoft.com/office/drawing/2014/main" id="{2C0D75D0-236C-BEC3-2433-0F680B8C4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Recommendation is Everywhere</a:t>
            </a:r>
          </a:p>
        </p:txBody>
      </p:sp>
    </p:spTree>
    <p:extLst>
      <p:ext uri="{BB962C8B-B14F-4D97-AF65-F5344CB8AC3E}">
        <p14:creationId xmlns:p14="http://schemas.microsoft.com/office/powerpoint/2010/main" val="19616668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7F33F-36DC-5CDD-96D9-A9B0867D9E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Recommendation is Everywhere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81B02D4-F98C-3DC2-B973-BB6D140396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29322" y="1289050"/>
            <a:ext cx="2485356" cy="5381625"/>
          </a:xfrm>
        </p:spPr>
      </p:pic>
    </p:spTree>
    <p:extLst>
      <p:ext uri="{BB962C8B-B14F-4D97-AF65-F5344CB8AC3E}">
        <p14:creationId xmlns:p14="http://schemas.microsoft.com/office/powerpoint/2010/main" val="3466968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650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>
            <a:normAutofit/>
          </a:bodyPr>
          <a:lstStyle/>
          <a:p>
            <a:r>
              <a:rPr lang="en-US" sz="3600" dirty="0"/>
              <a:t>Recommender Systems: How do they Work?</a:t>
            </a:r>
          </a:p>
        </p:txBody>
      </p:sp>
      <p:sp>
        <p:nvSpPr>
          <p:cNvPr id="283652" name="Rectangle 4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ct val="50000"/>
              </a:spcBef>
            </a:pPr>
            <a:r>
              <a:rPr lang="en-US" sz="1800" dirty="0"/>
              <a:t>Content-based recommenders</a:t>
            </a:r>
          </a:p>
          <a:p>
            <a:pPr lvl="1">
              <a:spcBef>
                <a:spcPct val="50000"/>
              </a:spcBef>
            </a:pPr>
            <a:r>
              <a:rPr lang="en-US" sz="1600" dirty="0"/>
              <a:t>Memory-based</a:t>
            </a:r>
          </a:p>
          <a:p>
            <a:pPr lvl="1">
              <a:spcBef>
                <a:spcPct val="50000"/>
              </a:spcBef>
            </a:pPr>
            <a:r>
              <a:rPr lang="en-US" sz="1600" dirty="0"/>
              <a:t>Model-based</a:t>
            </a:r>
          </a:p>
          <a:p>
            <a:pPr>
              <a:spcBef>
                <a:spcPct val="50000"/>
              </a:spcBef>
            </a:pPr>
            <a:r>
              <a:rPr lang="en-US" sz="1800" dirty="0"/>
              <a:t>Collaborative Filtering</a:t>
            </a:r>
          </a:p>
          <a:p>
            <a:pPr lvl="1">
              <a:spcBef>
                <a:spcPct val="50000"/>
              </a:spcBef>
            </a:pPr>
            <a:r>
              <a:rPr lang="en-US" sz="1600" dirty="0"/>
              <a:t>K-Nearest-</a:t>
            </a:r>
            <a:r>
              <a:rPr lang="en-US" sz="1600" dirty="0" err="1"/>
              <a:t>Neighbours</a:t>
            </a:r>
            <a:endParaRPr lang="en-US" sz="1600" dirty="0"/>
          </a:p>
          <a:p>
            <a:pPr lvl="2">
              <a:spcBef>
                <a:spcPct val="50000"/>
              </a:spcBef>
            </a:pPr>
            <a:r>
              <a:rPr lang="en-US" sz="1400" dirty="0"/>
              <a:t>Item-to-item </a:t>
            </a:r>
          </a:p>
          <a:p>
            <a:pPr lvl="2">
              <a:spcBef>
                <a:spcPct val="50000"/>
              </a:spcBef>
            </a:pPr>
            <a:r>
              <a:rPr lang="en-US" sz="1400" dirty="0"/>
              <a:t>User-to-user</a:t>
            </a:r>
          </a:p>
          <a:p>
            <a:pPr lvl="1">
              <a:spcBef>
                <a:spcPct val="50000"/>
              </a:spcBef>
            </a:pPr>
            <a:r>
              <a:rPr lang="en-US" sz="1600" dirty="0"/>
              <a:t>Matrix Factorization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490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>
            <a:noAutofit/>
          </a:bodyPr>
          <a:lstStyle/>
          <a:p>
            <a:r>
              <a:rPr lang="en-US" sz="3600" dirty="0"/>
              <a:t>Common Scenario: Estimate </a:t>
            </a:r>
            <a:r>
              <a:rPr lang="en-US" sz="3600" i="1" dirty="0"/>
              <a:t>R</a:t>
            </a:r>
            <a:r>
              <a:rPr lang="en-US" sz="3600" dirty="0"/>
              <a:t>(</a:t>
            </a:r>
            <a:r>
              <a:rPr lang="en-US" sz="3600" i="1" dirty="0"/>
              <a:t>User</a:t>
            </a:r>
            <a:r>
              <a:rPr lang="en-US" sz="3600" dirty="0"/>
              <a:t>, </a:t>
            </a:r>
            <a:r>
              <a:rPr lang="en-US" sz="3600" i="1" dirty="0"/>
              <a:t>Item</a:t>
            </a:r>
            <a:r>
              <a:rPr lang="en-US" sz="3600" dirty="0"/>
              <a:t>)</a:t>
            </a:r>
          </a:p>
        </p:txBody>
      </p:sp>
      <p:pic>
        <p:nvPicPr>
          <p:cNvPr id="319495" name="Picture 7"/>
          <p:cNvPicPr>
            <a:picLocks noChangeAspect="1" noChangeArrowheads="1"/>
          </p:cNvPicPr>
          <p:nvPr/>
        </p:nvPicPr>
        <p:blipFill rotWithShape="1">
          <a:blip r:embed="rId3" cstate="print"/>
          <a:srcRect b="11945"/>
          <a:stretch/>
        </p:blipFill>
        <p:spPr bwMode="auto">
          <a:xfrm>
            <a:off x="1308328" y="1295382"/>
            <a:ext cx="6527344" cy="23070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Rectangle 4">
            <a:extLst>
              <a:ext uri="{FF2B5EF4-FFF2-40B4-BE49-F238E27FC236}">
                <a16:creationId xmlns:a16="http://schemas.microsoft.com/office/drawing/2014/main" id="{98B9AEC1-F537-F558-E412-8F32815B96A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28650" y="4016089"/>
            <a:ext cx="7886700" cy="2642135"/>
          </a:xfrm>
        </p:spPr>
        <p:txBody>
          <a:bodyPr>
            <a:normAutofit/>
          </a:bodyPr>
          <a:lstStyle/>
          <a:p>
            <a:pPr>
              <a:spcBef>
                <a:spcPct val="50000"/>
              </a:spcBef>
            </a:pPr>
            <a:r>
              <a:rPr lang="en-US" sz="1800" dirty="0"/>
              <a:t>A matrix: Users x Items partially filled with</a:t>
            </a:r>
          </a:p>
          <a:p>
            <a:pPr lvl="1">
              <a:spcBef>
                <a:spcPct val="50000"/>
              </a:spcBef>
            </a:pPr>
            <a:r>
              <a:rPr lang="en-US" sz="1600" dirty="0"/>
              <a:t>ratings (how users rated items)</a:t>
            </a:r>
          </a:p>
          <a:p>
            <a:pPr lvl="1">
              <a:spcBef>
                <a:spcPct val="50000"/>
              </a:spcBef>
            </a:pPr>
            <a:r>
              <a:rPr lang="en-US" sz="1600" dirty="0"/>
              <a:t>interest (how much browsing time)</a:t>
            </a:r>
          </a:p>
          <a:p>
            <a:pPr lvl="1">
              <a:spcBef>
                <a:spcPct val="50000"/>
              </a:spcBef>
            </a:pPr>
            <a:r>
              <a:rPr lang="en-US" sz="1600" dirty="0"/>
              <a:t>purchase history (0 or 1)</a:t>
            </a:r>
          </a:p>
          <a:p>
            <a:pPr lvl="1">
              <a:spcBef>
                <a:spcPct val="50000"/>
              </a:spcBef>
            </a:pPr>
            <a:r>
              <a:rPr lang="en-US" sz="1600" dirty="0"/>
              <a:t> …</a:t>
            </a:r>
          </a:p>
          <a:p>
            <a:pPr>
              <a:spcBef>
                <a:spcPct val="50000"/>
              </a:spcBef>
            </a:pPr>
            <a:r>
              <a:rPr lang="en-US" sz="1800" dirty="0"/>
              <a:t>Usually huge: millions of users x thousands of items</a:t>
            </a:r>
          </a:p>
          <a:p>
            <a:pPr>
              <a:spcBef>
                <a:spcPct val="50000"/>
              </a:spcBef>
            </a:pPr>
            <a:r>
              <a:rPr lang="en-US" sz="1800" dirty="0"/>
              <a:t>Usually sparse: most entries missing. (In practice different </a:t>
            </a:r>
            <a:r>
              <a:rPr lang="en-US" sz="1800" dirty="0" err="1"/>
              <a:t>datastructure</a:t>
            </a:r>
            <a:r>
              <a:rPr lang="en-US" sz="1800" dirty="0"/>
              <a:t>)</a:t>
            </a:r>
          </a:p>
          <a:p>
            <a:pPr>
              <a:spcBef>
                <a:spcPct val="50000"/>
              </a:spcBef>
            </a:pP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746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>
            <a:normAutofit/>
          </a:bodyPr>
          <a:lstStyle/>
          <a:p>
            <a:r>
              <a:rPr lang="en-US" sz="3600" dirty="0"/>
              <a:t>Naive Approach</a:t>
            </a:r>
            <a:endParaRPr lang="en-US" sz="4000" dirty="0"/>
          </a:p>
        </p:txBody>
      </p:sp>
      <p:sp>
        <p:nvSpPr>
          <p:cNvPr id="287748" name="Rectangle 4"/>
          <p:cNvSpPr>
            <a:spLocks noGrp="1" noChangeArrowheads="1"/>
          </p:cNvSpPr>
          <p:nvPr>
            <p:ph idx="1"/>
          </p:nvPr>
        </p:nvSpPr>
        <p:spPr>
          <a:xfrm>
            <a:off x="628650" y="1289785"/>
            <a:ext cx="7886700" cy="4295675"/>
          </a:xfrm>
        </p:spPr>
        <p:txBody>
          <a:bodyPr>
            <a:normAutofit/>
          </a:bodyPr>
          <a:lstStyle/>
          <a:p>
            <a:pPr marL="0" indent="0">
              <a:spcBef>
                <a:spcPct val="50000"/>
              </a:spcBef>
              <a:buNone/>
            </a:pPr>
            <a:r>
              <a:rPr lang="en-US" sz="2100" i="1" dirty="0" err="1"/>
              <a:t>R</a:t>
            </a:r>
            <a:r>
              <a:rPr lang="en-US" sz="2100" baseline="-25000" dirty="0" err="1"/>
              <a:t>global</a:t>
            </a:r>
            <a:r>
              <a:rPr lang="en-US" sz="2100" dirty="0"/>
              <a:t>(</a:t>
            </a:r>
            <a:r>
              <a:rPr lang="en-US" sz="2100" i="1" dirty="0"/>
              <a:t>u</a:t>
            </a:r>
            <a:r>
              <a:rPr lang="en-US" sz="2100" dirty="0"/>
              <a:t>, </a:t>
            </a:r>
            <a:r>
              <a:rPr lang="en-US" sz="2100" i="1" dirty="0" err="1"/>
              <a:t>i</a:t>
            </a:r>
            <a:r>
              <a:rPr lang="en-US" sz="2100" dirty="0"/>
              <a:t>) = mean(all ratings)</a:t>
            </a:r>
          </a:p>
          <a:p>
            <a:pPr marL="0" indent="0">
              <a:spcBef>
                <a:spcPct val="50000"/>
              </a:spcBef>
              <a:buNone/>
            </a:pPr>
            <a:r>
              <a:rPr lang="en-US" sz="2100" i="1" dirty="0" err="1"/>
              <a:t>R</a:t>
            </a:r>
            <a:r>
              <a:rPr lang="en-US" sz="2100" baseline="-25000" dirty="0" err="1"/>
              <a:t>item</a:t>
            </a:r>
            <a:r>
              <a:rPr lang="en-US" sz="2100" dirty="0"/>
              <a:t>(</a:t>
            </a:r>
            <a:r>
              <a:rPr lang="en-US" sz="2100" i="1" dirty="0"/>
              <a:t>u</a:t>
            </a:r>
            <a:r>
              <a:rPr lang="en-US" sz="2100" dirty="0"/>
              <a:t>, </a:t>
            </a:r>
            <a:r>
              <a:rPr lang="en-US" sz="2100" i="1" dirty="0" err="1"/>
              <a:t>i</a:t>
            </a:r>
            <a:r>
              <a:rPr lang="en-US" sz="2100" dirty="0"/>
              <a:t>) = mean(all ratings for </a:t>
            </a:r>
            <a:r>
              <a:rPr lang="en-US" sz="2100" i="1" dirty="0" err="1"/>
              <a:t>i</a:t>
            </a:r>
            <a:r>
              <a:rPr lang="en-US" sz="2100" dirty="0"/>
              <a:t>)</a:t>
            </a:r>
          </a:p>
          <a:p>
            <a:pPr marL="0" indent="0">
              <a:spcBef>
                <a:spcPct val="50000"/>
              </a:spcBef>
              <a:buNone/>
            </a:pPr>
            <a:r>
              <a:rPr lang="en-US" sz="2100" i="1" dirty="0" err="1"/>
              <a:t>R</a:t>
            </a:r>
            <a:r>
              <a:rPr lang="en-US" sz="2100" baseline="-25000" dirty="0" err="1"/>
              <a:t>user</a:t>
            </a:r>
            <a:r>
              <a:rPr lang="en-US" sz="2100" dirty="0"/>
              <a:t>(</a:t>
            </a:r>
            <a:r>
              <a:rPr lang="en-US" sz="2100" i="1" dirty="0"/>
              <a:t>u</a:t>
            </a:r>
            <a:r>
              <a:rPr lang="en-US" sz="2100" dirty="0"/>
              <a:t>, </a:t>
            </a:r>
            <a:r>
              <a:rPr lang="en-US" sz="2100" i="1" dirty="0" err="1"/>
              <a:t>i</a:t>
            </a:r>
            <a:r>
              <a:rPr lang="en-US" sz="2100" dirty="0"/>
              <a:t>) = mean(all ratings for </a:t>
            </a:r>
            <a:r>
              <a:rPr lang="en-US" sz="2100" i="1" dirty="0"/>
              <a:t>u</a:t>
            </a:r>
            <a:r>
              <a:rPr lang="en-US" sz="2100" dirty="0"/>
              <a:t>)</a:t>
            </a:r>
          </a:p>
          <a:p>
            <a:pPr marL="0" indent="0">
              <a:spcBef>
                <a:spcPct val="50000"/>
              </a:spcBef>
              <a:buNone/>
            </a:pPr>
            <a:endParaRPr lang="en-US" sz="2100" dirty="0"/>
          </a:p>
          <a:p>
            <a:pPr marL="0" indent="0">
              <a:spcBef>
                <a:spcPct val="50000"/>
              </a:spcBef>
              <a:buNone/>
            </a:pPr>
            <a:r>
              <a:rPr lang="en-US" sz="2100" i="1" dirty="0" err="1"/>
              <a:t>R</a:t>
            </a:r>
            <a:r>
              <a:rPr lang="en-US" sz="2100" baseline="-25000" dirty="0" err="1"/>
              <a:t>user</a:t>
            </a:r>
            <a:r>
              <a:rPr lang="en-US" sz="2100" baseline="-25000" dirty="0"/>
              <a:t>-item</a:t>
            </a:r>
            <a:r>
              <a:rPr lang="en-US" sz="2100" dirty="0"/>
              <a:t>(</a:t>
            </a:r>
            <a:r>
              <a:rPr lang="en-US" sz="2100" i="1" dirty="0"/>
              <a:t>u</a:t>
            </a:r>
            <a:r>
              <a:rPr lang="en-US" sz="2100" dirty="0"/>
              <a:t>, </a:t>
            </a:r>
            <a:r>
              <a:rPr lang="en-US" sz="2100" i="1" dirty="0" err="1"/>
              <a:t>i</a:t>
            </a:r>
            <a:r>
              <a:rPr lang="en-US" sz="2100" dirty="0"/>
              <a:t>) = </a:t>
            </a:r>
            <a:r>
              <a:rPr lang="en-US" sz="2100" dirty="0">
                <a:solidFill>
                  <a:srgbClr val="0070C0"/>
                </a:solidFill>
                <a:sym typeface="Symbol" pitchFamily="18" charset="2"/>
              </a:rPr>
              <a:t>･</a:t>
            </a:r>
            <a:r>
              <a:rPr lang="en-US" sz="2100" i="1" dirty="0" err="1"/>
              <a:t>R</a:t>
            </a:r>
            <a:r>
              <a:rPr lang="en-US" sz="2100" baseline="-25000" dirty="0" err="1"/>
              <a:t>user</a:t>
            </a:r>
            <a:r>
              <a:rPr lang="en-US" sz="2100" dirty="0"/>
              <a:t>(</a:t>
            </a:r>
            <a:r>
              <a:rPr lang="en-US" sz="2100" i="1" dirty="0"/>
              <a:t>u</a:t>
            </a:r>
            <a:r>
              <a:rPr lang="en-US" sz="2100" dirty="0"/>
              <a:t>, </a:t>
            </a:r>
            <a:r>
              <a:rPr lang="en-US" sz="2100" i="1" dirty="0" err="1"/>
              <a:t>i</a:t>
            </a:r>
            <a:r>
              <a:rPr lang="en-US" sz="2100" dirty="0"/>
              <a:t>) + </a:t>
            </a:r>
            <a:r>
              <a:rPr lang="en-US" sz="2100" dirty="0">
                <a:solidFill>
                  <a:srgbClr val="0070C0"/>
                </a:solidFill>
                <a:sym typeface="Symbol" pitchFamily="18" charset="2"/>
              </a:rPr>
              <a:t>･</a:t>
            </a:r>
            <a:r>
              <a:rPr lang="en-US" sz="2100" i="1" dirty="0" err="1"/>
              <a:t>R</a:t>
            </a:r>
            <a:r>
              <a:rPr lang="en-US" sz="2100" baseline="-25000" dirty="0" err="1"/>
              <a:t>item</a:t>
            </a:r>
            <a:r>
              <a:rPr lang="en-US" sz="2100" dirty="0"/>
              <a:t>(</a:t>
            </a:r>
            <a:r>
              <a:rPr lang="en-US" sz="2100" i="1" dirty="0"/>
              <a:t>u</a:t>
            </a:r>
            <a:r>
              <a:rPr lang="en-US" sz="2100" dirty="0"/>
              <a:t>, </a:t>
            </a:r>
            <a:r>
              <a:rPr lang="en-US" sz="2100" i="1" dirty="0" err="1"/>
              <a:t>i</a:t>
            </a:r>
            <a:r>
              <a:rPr lang="en-US" sz="2100" dirty="0"/>
              <a:t>) + </a:t>
            </a:r>
            <a:r>
              <a:rPr lang="en-US" sz="2100" dirty="0">
                <a:solidFill>
                  <a:srgbClr val="0070C0"/>
                </a:solidFill>
                <a:sym typeface="Symbol"/>
              </a:rPr>
              <a:t></a:t>
            </a:r>
            <a:endParaRPr lang="en-US" sz="2100" dirty="0">
              <a:solidFill>
                <a:srgbClr val="0070C0"/>
              </a:solidFill>
            </a:endParaRPr>
          </a:p>
          <a:p>
            <a:pPr marL="0" indent="0">
              <a:spcBef>
                <a:spcPct val="50000"/>
              </a:spcBef>
              <a:buNone/>
            </a:pPr>
            <a:r>
              <a:rPr lang="en-US" sz="1600" dirty="0"/>
              <a:t>	(parameters </a:t>
            </a:r>
            <a:r>
              <a:rPr lang="en-US" sz="1600" dirty="0">
                <a:sym typeface="Symbol" pitchFamily="18" charset="2"/>
              </a:rPr>
              <a:t>,</a:t>
            </a:r>
            <a:r>
              <a:rPr lang="en-US" sz="1600" dirty="0"/>
              <a:t> </a:t>
            </a:r>
            <a:r>
              <a:rPr lang="en-US" sz="1600" dirty="0">
                <a:sym typeface="Symbol" pitchFamily="18" charset="2"/>
              </a:rPr>
              <a:t>, </a:t>
            </a:r>
            <a:r>
              <a:rPr lang="en-US" sz="1600" dirty="0">
                <a:sym typeface="Symbol"/>
              </a:rPr>
              <a:t></a:t>
            </a:r>
            <a:r>
              <a:rPr lang="en-US" sz="1600" dirty="0">
                <a:sym typeface="Symbol" pitchFamily="18" charset="2"/>
              </a:rPr>
              <a:t> estimated with Linear Regression)</a:t>
            </a:r>
          </a:p>
          <a:p>
            <a:pPr marL="0" indent="0">
              <a:spcBef>
                <a:spcPct val="50000"/>
              </a:spcBef>
              <a:buNone/>
            </a:pPr>
            <a:endParaRPr lang="en-US" sz="1600" dirty="0">
              <a:sym typeface="Symbol" pitchFamily="18" charset="2"/>
            </a:endParaRPr>
          </a:p>
          <a:p>
            <a:pPr marL="0" indent="0">
              <a:spcBef>
                <a:spcPct val="50000"/>
              </a:spcBef>
              <a:buNone/>
            </a:pPr>
            <a:r>
              <a:rPr lang="en-US" sz="2100" i="1" dirty="0" err="1"/>
              <a:t>R</a:t>
            </a:r>
            <a:r>
              <a:rPr lang="en-US" sz="2100" baseline="-25000" dirty="0" err="1"/>
              <a:t>user</a:t>
            </a:r>
            <a:r>
              <a:rPr lang="en-US" sz="2100" baseline="-25000" dirty="0"/>
              <a:t>*-item</a:t>
            </a:r>
            <a:r>
              <a:rPr lang="en-US" sz="2100" dirty="0"/>
              <a:t>(</a:t>
            </a:r>
            <a:r>
              <a:rPr lang="en-US" sz="2100" i="1" dirty="0"/>
              <a:t>u</a:t>
            </a:r>
            <a:r>
              <a:rPr lang="en-US" sz="2100" dirty="0"/>
              <a:t>, </a:t>
            </a:r>
            <a:r>
              <a:rPr lang="en-US" sz="2100" i="1" dirty="0" err="1"/>
              <a:t>i</a:t>
            </a:r>
            <a:r>
              <a:rPr lang="en-US" sz="2100" dirty="0"/>
              <a:t>) = </a:t>
            </a:r>
            <a:r>
              <a:rPr lang="en-US" sz="2100" dirty="0">
                <a:solidFill>
                  <a:srgbClr val="0070C0"/>
                </a:solidFill>
                <a:sym typeface="Symbol" pitchFamily="18" charset="2"/>
              </a:rPr>
              <a:t>･</a:t>
            </a:r>
            <a:r>
              <a:rPr lang="en-US" sz="2100" i="1" dirty="0" err="1"/>
              <a:t>R</a:t>
            </a:r>
            <a:r>
              <a:rPr lang="en-US" sz="2100" baseline="-25000" dirty="0" err="1"/>
              <a:t>user</a:t>
            </a:r>
            <a:r>
              <a:rPr lang="en-US" sz="2100" dirty="0"/>
              <a:t>(</a:t>
            </a:r>
            <a:r>
              <a:rPr lang="en-US" sz="2100" i="1" dirty="0"/>
              <a:t>u</a:t>
            </a:r>
            <a:r>
              <a:rPr lang="en-US" sz="2100" dirty="0"/>
              <a:t>, </a:t>
            </a:r>
            <a:r>
              <a:rPr lang="en-US" sz="2100" i="1" dirty="0" err="1"/>
              <a:t>i</a:t>
            </a:r>
            <a:r>
              <a:rPr lang="en-US" sz="2100" dirty="0"/>
              <a:t>) + </a:t>
            </a:r>
            <a:r>
              <a:rPr lang="en-US" sz="2100" dirty="0">
                <a:solidFill>
                  <a:srgbClr val="0070C0"/>
                </a:solidFill>
                <a:sym typeface="Symbol" pitchFamily="18" charset="2"/>
              </a:rPr>
              <a:t></a:t>
            </a:r>
            <a:r>
              <a:rPr lang="en-US" sz="2100" baseline="-25000" dirty="0" err="1">
                <a:solidFill>
                  <a:srgbClr val="0070C0"/>
                </a:solidFill>
                <a:sym typeface="Symbol" pitchFamily="18" charset="2"/>
              </a:rPr>
              <a:t>user</a:t>
            </a:r>
            <a:r>
              <a:rPr lang="en-US" sz="2100" dirty="0" err="1">
                <a:solidFill>
                  <a:srgbClr val="0070C0"/>
                </a:solidFill>
                <a:sym typeface="Symbol" pitchFamily="18" charset="2"/>
              </a:rPr>
              <a:t>･</a:t>
            </a:r>
            <a:r>
              <a:rPr lang="en-US" sz="2100" i="1" dirty="0" err="1"/>
              <a:t>R</a:t>
            </a:r>
            <a:r>
              <a:rPr lang="en-US" sz="2100" baseline="-25000" dirty="0" err="1"/>
              <a:t>item</a:t>
            </a:r>
            <a:r>
              <a:rPr lang="en-US" sz="2100" dirty="0"/>
              <a:t>(</a:t>
            </a:r>
            <a:r>
              <a:rPr lang="en-US" sz="2100" i="1" dirty="0"/>
              <a:t>u</a:t>
            </a:r>
            <a:r>
              <a:rPr lang="en-US" sz="2100" dirty="0"/>
              <a:t>, </a:t>
            </a:r>
            <a:r>
              <a:rPr lang="en-US" sz="2100" i="1" dirty="0" err="1"/>
              <a:t>i</a:t>
            </a:r>
            <a:r>
              <a:rPr lang="en-US" sz="2100" dirty="0"/>
              <a:t>)</a:t>
            </a:r>
          </a:p>
          <a:p>
            <a:pPr marL="0" indent="0">
              <a:spcBef>
                <a:spcPct val="50000"/>
              </a:spcBef>
              <a:buNone/>
            </a:pPr>
            <a:r>
              <a:rPr lang="en-US" sz="2100" dirty="0"/>
              <a:t>...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0D07D6C-291B-F463-358F-E9F439E0D4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5260" y="5139568"/>
            <a:ext cx="4305300" cy="134785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A5BD324-A43C-BB6F-F313-6774058877EF}"/>
              </a:ext>
            </a:extLst>
          </p:cNvPr>
          <p:cNvSpPr txBox="1"/>
          <p:nvPr/>
        </p:nvSpPr>
        <p:spPr>
          <a:xfrm>
            <a:off x="5673090" y="6449960"/>
            <a:ext cx="11125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1" dirty="0" err="1"/>
              <a:t>R</a:t>
            </a:r>
            <a:r>
              <a:rPr lang="en-US" sz="1200" baseline="-25000" dirty="0" err="1"/>
              <a:t>item</a:t>
            </a:r>
            <a:r>
              <a:rPr lang="en-US" sz="1200" dirty="0"/>
              <a:t>(</a:t>
            </a:r>
            <a:r>
              <a:rPr lang="en-US" sz="1200" i="1" dirty="0"/>
              <a:t>u</a:t>
            </a:r>
            <a:r>
              <a:rPr lang="en-US" sz="1200" dirty="0"/>
              <a:t>, </a:t>
            </a:r>
            <a:r>
              <a:rPr lang="en-US" sz="1200" i="1" dirty="0" err="1"/>
              <a:t>i</a:t>
            </a:r>
            <a:r>
              <a:rPr lang="en-US" sz="1200" dirty="0"/>
              <a:t>)</a:t>
            </a:r>
            <a:endParaRPr lang="en-NL" sz="1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0995B0-E9B6-267D-A18F-59D38C0D735A}"/>
              </a:ext>
            </a:extLst>
          </p:cNvPr>
          <p:cNvSpPr txBox="1"/>
          <p:nvPr/>
        </p:nvSpPr>
        <p:spPr>
          <a:xfrm>
            <a:off x="8275320" y="5662214"/>
            <a:ext cx="1066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1" dirty="0" err="1"/>
              <a:t>R</a:t>
            </a:r>
            <a:r>
              <a:rPr lang="en-US" sz="1200" baseline="-25000" dirty="0" err="1"/>
              <a:t>user</a:t>
            </a:r>
            <a:r>
              <a:rPr lang="en-US" sz="1200" dirty="0"/>
              <a:t>(</a:t>
            </a:r>
            <a:r>
              <a:rPr lang="en-US" sz="1200" i="1" dirty="0"/>
              <a:t>u</a:t>
            </a:r>
            <a:r>
              <a:rPr lang="en-US" sz="1200" dirty="0"/>
              <a:t>, </a:t>
            </a:r>
            <a:r>
              <a:rPr lang="en-US" sz="1200" i="1" dirty="0" err="1"/>
              <a:t>i</a:t>
            </a:r>
            <a:r>
              <a:rPr lang="en-US" sz="1200" dirty="0"/>
              <a:t>) </a:t>
            </a:r>
            <a:endParaRPr lang="en-NL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4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4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634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>
            <a:normAutofit/>
          </a:bodyPr>
          <a:lstStyle/>
          <a:p>
            <a:r>
              <a:rPr lang="en-US" sz="3600" dirty="0"/>
              <a:t>Naive Approach</a:t>
            </a:r>
          </a:p>
        </p:txBody>
      </p:sp>
      <p:sp>
        <p:nvSpPr>
          <p:cNvPr id="325636" name="Rectangle 4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ct val="50000"/>
              </a:spcBef>
            </a:pPr>
            <a:r>
              <a:rPr lang="en-US" sz="2100" dirty="0"/>
              <a:t>Naive approach works surprisingly well </a:t>
            </a:r>
          </a:p>
          <a:p>
            <a:pPr>
              <a:spcBef>
                <a:spcPct val="50000"/>
              </a:spcBef>
            </a:pPr>
            <a:r>
              <a:rPr lang="en-US" sz="2100" dirty="0"/>
              <a:t>Models very easy to calculate and to maintain</a:t>
            </a:r>
            <a:endParaRPr lang="en-US" sz="2100" i="1" dirty="0">
              <a:solidFill>
                <a:srgbClr val="0070C0"/>
              </a:solidFill>
            </a:endParaRPr>
          </a:p>
          <a:p>
            <a:pPr>
              <a:spcBef>
                <a:spcPct val="50000"/>
              </a:spcBef>
            </a:pPr>
            <a:r>
              <a:rPr lang="en-US" sz="2100" dirty="0"/>
              <a:t>Simple interpretation of the models:</a:t>
            </a:r>
          </a:p>
          <a:p>
            <a:pPr lvl="1">
              <a:spcBef>
                <a:spcPct val="50000"/>
              </a:spcBef>
            </a:pPr>
            <a:r>
              <a:rPr lang="en-US" sz="1800" dirty="0"/>
              <a:t>‘good movie’</a:t>
            </a:r>
          </a:p>
          <a:p>
            <a:pPr lvl="1">
              <a:spcBef>
                <a:spcPct val="50000"/>
              </a:spcBef>
            </a:pPr>
            <a:r>
              <a:rPr lang="en-US" sz="1800" dirty="0"/>
              <a:t>‘harsh user’</a:t>
            </a:r>
          </a:p>
          <a:p>
            <a:pPr lvl="1">
              <a:spcBef>
                <a:spcPct val="50000"/>
              </a:spcBef>
            </a:pPr>
            <a:r>
              <a:rPr lang="en-US" sz="1800" dirty="0"/>
              <a:t>‘crowd follower’</a:t>
            </a:r>
          </a:p>
          <a:p>
            <a:pPr lvl="1">
              <a:spcBef>
                <a:spcPct val="50000"/>
              </a:spcBef>
            </a:pPr>
            <a:r>
              <a:rPr lang="en-US" sz="1800" dirty="0"/>
              <a:t>...</a:t>
            </a:r>
          </a:p>
          <a:p>
            <a:pPr>
              <a:spcBef>
                <a:spcPct val="50000"/>
              </a:spcBef>
            </a:pPr>
            <a:endParaRPr lang="en-US" sz="2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746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>
            <a:normAutofit/>
          </a:bodyPr>
          <a:lstStyle/>
          <a:p>
            <a:r>
              <a:rPr lang="en-US" sz="3600" dirty="0"/>
              <a:t>Content-Based Approach</a:t>
            </a:r>
            <a:endParaRPr lang="en-US" sz="4000" dirty="0"/>
          </a:p>
        </p:txBody>
      </p:sp>
      <p:sp>
        <p:nvSpPr>
          <p:cNvPr id="287748" name="Rectangle 4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ct val="50000"/>
              </a:spcBef>
            </a:pPr>
            <a:r>
              <a:rPr lang="en-US" sz="2000" dirty="0"/>
              <a:t>Construct for every item its </a:t>
            </a:r>
            <a:r>
              <a:rPr lang="en-US" sz="2000" i="1" dirty="0">
                <a:solidFill>
                  <a:srgbClr val="0070C0"/>
                </a:solidFill>
              </a:rPr>
              <a:t>profile</a:t>
            </a:r>
            <a:r>
              <a:rPr lang="en-US" sz="2000" dirty="0"/>
              <a:t> – </a:t>
            </a:r>
            <a:br>
              <a:rPr lang="en-US" sz="2000" dirty="0"/>
            </a:br>
            <a:r>
              <a:rPr lang="en-US" sz="2000" dirty="0"/>
              <a:t>a vector (or set) of features that characterize the item</a:t>
            </a:r>
          </a:p>
          <a:p>
            <a:pPr>
              <a:spcBef>
                <a:spcPct val="50000"/>
              </a:spcBef>
            </a:pPr>
            <a:r>
              <a:rPr lang="en-US" sz="2000" dirty="0"/>
              <a:t>Construct for every user his/her </a:t>
            </a:r>
            <a:r>
              <a:rPr lang="en-US" sz="2000" i="1" dirty="0">
                <a:solidFill>
                  <a:srgbClr val="0070C0"/>
                </a:solidFill>
              </a:rPr>
              <a:t>profile</a:t>
            </a:r>
            <a:r>
              <a:rPr lang="en-US" sz="2000" dirty="0"/>
              <a:t> – </a:t>
            </a:r>
            <a:br>
              <a:rPr lang="en-US" sz="2000" dirty="0"/>
            </a:br>
            <a:r>
              <a:rPr lang="en-US" sz="2000" dirty="0"/>
              <a:t>an ‘average’ profile of the items they like</a:t>
            </a:r>
          </a:p>
          <a:p>
            <a:pPr>
              <a:spcBef>
                <a:spcPct val="50000"/>
              </a:spcBef>
            </a:pPr>
            <a:r>
              <a:rPr lang="en-US" sz="2000" dirty="0"/>
              <a:t>Recommend </a:t>
            </a:r>
            <a:r>
              <a:rPr lang="en-US" sz="2000" i="1" dirty="0">
                <a:solidFill>
                  <a:srgbClr val="0070C0"/>
                </a:solidFill>
              </a:rPr>
              <a:t>items that are closest to the user profile</a:t>
            </a:r>
          </a:p>
          <a:p>
            <a:pPr>
              <a:spcBef>
                <a:spcPct val="50000"/>
              </a:spcBef>
            </a:pPr>
            <a:r>
              <a:rPr lang="en-US" sz="2000" dirty="0"/>
              <a:t>Closeness: </a:t>
            </a:r>
            <a:r>
              <a:rPr lang="en-US" sz="2000" dirty="0" err="1"/>
              <a:t>Jaccard</a:t>
            </a:r>
            <a:r>
              <a:rPr lang="en-US" sz="2000" dirty="0"/>
              <a:t>, cosine, Pearson, … distance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746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>
            <a:normAutofit/>
          </a:bodyPr>
          <a:lstStyle/>
          <a:p>
            <a:r>
              <a:rPr lang="en-US" sz="3600" dirty="0"/>
              <a:t>Example Item Profiles</a:t>
            </a:r>
            <a:endParaRPr lang="en-US" sz="4000" dirty="0"/>
          </a:p>
        </p:txBody>
      </p:sp>
      <p:sp>
        <p:nvSpPr>
          <p:cNvPr id="287748" name="Rectangle 4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ct val="50000"/>
              </a:spcBef>
            </a:pPr>
            <a:r>
              <a:rPr lang="en-US" sz="2000" dirty="0"/>
              <a:t>Movies:</a:t>
            </a:r>
          </a:p>
          <a:p>
            <a:pPr lvl="1">
              <a:spcBef>
                <a:spcPct val="50000"/>
              </a:spcBef>
            </a:pPr>
            <a:r>
              <a:rPr lang="en-US" sz="1800" dirty="0"/>
              <a:t>Genre</a:t>
            </a:r>
          </a:p>
          <a:p>
            <a:pPr lvl="1">
              <a:spcBef>
                <a:spcPct val="50000"/>
              </a:spcBef>
            </a:pPr>
            <a:r>
              <a:rPr lang="en-US" sz="1800" dirty="0"/>
              <a:t>Director</a:t>
            </a:r>
          </a:p>
          <a:p>
            <a:pPr lvl="1">
              <a:spcBef>
                <a:spcPct val="50000"/>
              </a:spcBef>
            </a:pPr>
            <a:r>
              <a:rPr lang="en-US" sz="1800" dirty="0"/>
              <a:t>Movie Stars</a:t>
            </a:r>
          </a:p>
          <a:p>
            <a:pPr lvl="1">
              <a:spcBef>
                <a:spcPct val="50000"/>
              </a:spcBef>
            </a:pPr>
            <a:r>
              <a:rPr lang="en-US" sz="1800" dirty="0"/>
              <a:t>Production Year</a:t>
            </a:r>
          </a:p>
          <a:p>
            <a:pPr>
              <a:spcBef>
                <a:spcPct val="50000"/>
              </a:spcBef>
            </a:pPr>
            <a:r>
              <a:rPr lang="en-US" sz="2000" dirty="0"/>
              <a:t>Scientific Articles:</a:t>
            </a:r>
          </a:p>
          <a:p>
            <a:pPr lvl="1">
              <a:spcBef>
                <a:spcPct val="50000"/>
              </a:spcBef>
            </a:pPr>
            <a:r>
              <a:rPr lang="en-US" sz="1800" dirty="0"/>
              <a:t>Important words (high TF.IDF values)</a:t>
            </a:r>
          </a:p>
          <a:p>
            <a:pPr lvl="1">
              <a:spcBef>
                <a:spcPct val="50000"/>
              </a:spcBef>
            </a:pPr>
            <a:r>
              <a:rPr lang="en-US" sz="1800" dirty="0"/>
              <a:t>Journal title</a:t>
            </a:r>
          </a:p>
          <a:p>
            <a:pPr lvl="1">
              <a:spcBef>
                <a:spcPct val="50000"/>
              </a:spcBef>
            </a:pPr>
            <a:r>
              <a:rPr lang="en-US" sz="1800" dirty="0"/>
              <a:t>Author(s)</a:t>
            </a:r>
          </a:p>
          <a:p>
            <a:pPr lvl="1">
              <a:spcBef>
                <a:spcPct val="50000"/>
              </a:spcBef>
            </a:pPr>
            <a:r>
              <a:rPr lang="en-US" sz="1800" dirty="0"/>
              <a:t>Institution</a:t>
            </a:r>
            <a:endParaRPr lang="en-US" sz="1600" dirty="0"/>
          </a:p>
          <a:p>
            <a:pPr>
              <a:spcBef>
                <a:spcPct val="50000"/>
              </a:spcBef>
            </a:pPr>
            <a:r>
              <a:rPr lang="en-US" sz="2000" dirty="0"/>
              <a:t>Music:</a:t>
            </a:r>
          </a:p>
          <a:p>
            <a:pPr lvl="1">
              <a:spcBef>
                <a:spcPct val="50000"/>
              </a:spcBef>
            </a:pPr>
            <a:r>
              <a:rPr lang="en-US" sz="1800" dirty="0"/>
              <a:t>Instruments</a:t>
            </a:r>
          </a:p>
          <a:p>
            <a:pPr lvl="1">
              <a:spcBef>
                <a:spcPct val="50000"/>
              </a:spcBef>
            </a:pPr>
            <a:r>
              <a:rPr lang="en-US" sz="1800" dirty="0"/>
              <a:t>…	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746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>
            <a:normAutofit/>
          </a:bodyPr>
          <a:lstStyle/>
          <a:p>
            <a:r>
              <a:rPr lang="en-US" sz="3600" dirty="0"/>
              <a:t>Model-based Approach</a:t>
            </a:r>
            <a:endParaRPr lang="en-US" sz="4000" dirty="0"/>
          </a:p>
        </p:txBody>
      </p:sp>
      <p:sp>
        <p:nvSpPr>
          <p:cNvPr id="287748" name="Rectangle 4"/>
          <p:cNvSpPr>
            <a:spLocks noGrp="1" noChangeArrowheads="1"/>
          </p:cNvSpPr>
          <p:nvPr>
            <p:ph idx="1"/>
          </p:nvPr>
        </p:nvSpPr>
        <p:spPr>
          <a:xfrm>
            <a:off x="628650" y="1289785"/>
            <a:ext cx="7029450" cy="5380522"/>
          </a:xfrm>
        </p:spPr>
        <p:txBody>
          <a:bodyPr>
            <a:normAutofit/>
          </a:bodyPr>
          <a:lstStyle/>
          <a:p>
            <a:pPr>
              <a:spcBef>
                <a:spcPct val="50000"/>
              </a:spcBef>
            </a:pPr>
            <a:r>
              <a:rPr lang="en-US" sz="1800" dirty="0"/>
              <a:t>Once we have item profiles, we can train, </a:t>
            </a:r>
            <a:r>
              <a:rPr lang="en-US" sz="1800" i="1" dirty="0"/>
              <a:t>per user</a:t>
            </a:r>
            <a:r>
              <a:rPr lang="en-US" sz="1800" dirty="0"/>
              <a:t>, a classification or regression model which predicts rating from the item profile:</a:t>
            </a:r>
          </a:p>
          <a:p>
            <a:pPr lvl="1">
              <a:spcBef>
                <a:spcPct val="50000"/>
              </a:spcBef>
            </a:pPr>
            <a:r>
              <a:rPr lang="en-US" sz="1600" dirty="0"/>
              <a:t>Model: a decision tree, neural network, SVM</a:t>
            </a:r>
          </a:p>
          <a:p>
            <a:pPr lvl="1">
              <a:spcBef>
                <a:spcPct val="50000"/>
              </a:spcBef>
            </a:pPr>
            <a:r>
              <a:rPr lang="en-US" sz="1600" dirty="0"/>
              <a:t>Input: item profile</a:t>
            </a:r>
          </a:p>
          <a:p>
            <a:pPr lvl="1">
              <a:spcBef>
                <a:spcPct val="50000"/>
              </a:spcBef>
            </a:pPr>
            <a:r>
              <a:rPr lang="en-US" sz="1600" dirty="0"/>
              <a:t>Output: user ratings</a:t>
            </a:r>
            <a:endParaRPr lang="en-US" sz="1400" dirty="0"/>
          </a:p>
          <a:p>
            <a:pPr>
              <a:spcBef>
                <a:spcPct val="50000"/>
              </a:spcBef>
            </a:pPr>
            <a:r>
              <a:rPr lang="en-US" sz="1800" dirty="0"/>
              <a:t>Expensive to build and maintain; low accuracy; </a:t>
            </a:r>
            <a:br>
              <a:rPr lang="en-US" sz="1800" dirty="0"/>
            </a:br>
            <a:r>
              <a:rPr lang="en-US" sz="1800" dirty="0"/>
              <a:t>what about new users (cold-start problem)?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70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/>
              <a:t>Collaborative Filtering</a:t>
            </a:r>
          </a:p>
        </p:txBody>
      </p:sp>
      <p:sp>
        <p:nvSpPr>
          <p:cNvPr id="32870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>
          <a:noFill/>
          <a:ln/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800" dirty="0">
                <a:cs typeface="Times New Roman" pitchFamily="18" charset="0"/>
              </a:rPr>
              <a:t>Recommends items to the user based on what other similar users have liked</a:t>
            </a:r>
          </a:p>
          <a:p>
            <a:pPr>
              <a:lnSpc>
                <a:spcPct val="90000"/>
              </a:lnSpc>
            </a:pPr>
            <a:r>
              <a:rPr lang="en-US" sz="1800" dirty="0">
                <a:cs typeface="Times New Roman" pitchFamily="18" charset="0"/>
              </a:rPr>
              <a:t>Users that rate items in a similar way</a:t>
            </a:r>
          </a:p>
          <a:p>
            <a:pPr>
              <a:lnSpc>
                <a:spcPct val="90000"/>
              </a:lnSpc>
            </a:pPr>
            <a:r>
              <a:rPr lang="en-US" sz="1800" dirty="0">
                <a:cs typeface="Times New Roman" pitchFamily="18" charset="0"/>
              </a:rPr>
              <a:t>How to find other user’s preferences? From data</a:t>
            </a:r>
          </a:p>
          <a:p>
            <a:pPr>
              <a:lnSpc>
                <a:spcPct val="90000"/>
              </a:lnSpc>
            </a:pPr>
            <a:endParaRPr lang="en-US" sz="1800" dirty="0">
              <a:cs typeface="Times New Roman" pitchFamily="18" charset="0"/>
            </a:endParaRPr>
          </a:p>
          <a:p>
            <a:pPr>
              <a:lnSpc>
                <a:spcPct val="90000"/>
              </a:lnSpc>
            </a:pPr>
            <a:r>
              <a:rPr lang="en-US" sz="1800" dirty="0">
                <a:cs typeface="Times New Roman" pitchFamily="18" charset="0"/>
              </a:rPr>
              <a:t>User-User CF</a:t>
            </a:r>
          </a:p>
          <a:p>
            <a:pPr>
              <a:lnSpc>
                <a:spcPct val="90000"/>
              </a:lnSpc>
            </a:pPr>
            <a:r>
              <a:rPr lang="en-US" sz="1800" dirty="0">
                <a:cs typeface="Times New Roman" pitchFamily="18" charset="0"/>
              </a:rPr>
              <a:t>Item-Item CF</a:t>
            </a:r>
          </a:p>
          <a:p>
            <a:pPr>
              <a:lnSpc>
                <a:spcPct val="90000"/>
              </a:lnSpc>
            </a:pPr>
            <a:endParaRPr lang="en-US" sz="1800" dirty="0">
              <a:cs typeface="Times New Roman" pitchFamily="18" charset="0"/>
            </a:endParaRP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8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User-User Recommendations</a:t>
            </a:r>
          </a:p>
        </p:txBody>
      </p:sp>
      <p:sp>
        <p:nvSpPr>
          <p:cNvPr id="33485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Each user is represented by a vector that contains ratings for each product they bought/rated</a:t>
            </a:r>
          </a:p>
          <a:p>
            <a:r>
              <a:rPr lang="en-US" sz="1800" dirty="0"/>
              <a:t>Users with ‘similar’ rating vectors are similar</a:t>
            </a:r>
          </a:p>
          <a:p>
            <a:r>
              <a:rPr lang="en-US" sz="1800" dirty="0"/>
              <a:t>How do we measure similarity of vectors?</a:t>
            </a:r>
          </a:p>
          <a:p>
            <a:endParaRPr lang="en-US" sz="1800" dirty="0"/>
          </a:p>
          <a:p>
            <a:endParaRPr lang="en-US" sz="1800" dirty="0"/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1E435C9A-DC63-89B8-F7EB-914EACCCEE37}"/>
              </a:ext>
            </a:extLst>
          </p:cNvPr>
          <p:cNvGrpSpPr/>
          <p:nvPr/>
        </p:nvGrpSpPr>
        <p:grpSpPr>
          <a:xfrm>
            <a:off x="1756079" y="3346615"/>
            <a:ext cx="4331617" cy="1214767"/>
            <a:chOff x="1703423" y="2014295"/>
            <a:chExt cx="5737154" cy="1608938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87E89FB4-49EA-77D3-9389-4807001F5FA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26185"/>
            <a:stretch/>
          </p:blipFill>
          <p:spPr>
            <a:xfrm>
              <a:off x="1703423" y="2014295"/>
              <a:ext cx="5737154" cy="1592056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68672526-6928-4E77-3B95-BDC97922040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26185" r="30003"/>
            <a:stretch/>
          </p:blipFill>
          <p:spPr>
            <a:xfrm>
              <a:off x="1703423" y="2031177"/>
              <a:ext cx="3405167" cy="1592056"/>
            </a:xfrm>
            <a:prstGeom prst="rect">
              <a:avLst/>
            </a:prstGeom>
          </p:spPr>
        </p:pic>
      </p:grpSp>
      <p:sp>
        <p:nvSpPr>
          <p:cNvPr id="338949" name="Rectangle 5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/>
              <a:t>Find Nearest Neighbours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9D339D9-F537-CD18-4BD8-DA54F0BF8E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NL" sz="1800" dirty="0"/>
              <a:t>Step 1. Calculate similarity between vectors</a:t>
            </a:r>
          </a:p>
          <a:p>
            <a:pPr lvl="1"/>
            <a:endParaRPr lang="en-NL" sz="1600" dirty="0"/>
          </a:p>
          <a:p>
            <a:pPr lvl="1"/>
            <a:r>
              <a:rPr lang="en-NL" sz="1600" dirty="0"/>
              <a:t>Pearson correlation:</a:t>
            </a:r>
          </a:p>
          <a:p>
            <a:pPr lvl="1"/>
            <a:endParaRPr lang="en-NL" sz="1600" dirty="0"/>
          </a:p>
          <a:p>
            <a:pPr lvl="1"/>
            <a:endParaRPr lang="en-NL" sz="1600" dirty="0"/>
          </a:p>
          <a:p>
            <a:pPr lvl="1"/>
            <a:endParaRPr lang="en-NL" sz="1600" dirty="0"/>
          </a:p>
          <a:p>
            <a:pPr marL="457200" lvl="1" indent="0">
              <a:buNone/>
            </a:pPr>
            <a:endParaRPr lang="en-NL" sz="1600" dirty="0"/>
          </a:p>
          <a:p>
            <a:pPr lvl="1"/>
            <a:r>
              <a:rPr lang="en-NL" sz="1600" dirty="0"/>
              <a:t>Cosine similarity:</a:t>
            </a:r>
          </a:p>
          <a:p>
            <a:pPr lvl="1"/>
            <a:endParaRPr lang="en-NL" sz="1600" dirty="0"/>
          </a:p>
          <a:p>
            <a:pPr lvl="1"/>
            <a:endParaRPr lang="en-NL" sz="1600" dirty="0"/>
          </a:p>
          <a:p>
            <a:pPr lvl="1"/>
            <a:endParaRPr lang="en-NL" sz="1600" dirty="0"/>
          </a:p>
          <a:p>
            <a:pPr lvl="1"/>
            <a:endParaRPr lang="en-NL" sz="1600" dirty="0"/>
          </a:p>
          <a:p>
            <a:pPr lvl="1"/>
            <a:r>
              <a:rPr lang="en-NL" sz="1600" dirty="0"/>
              <a:t>Jaccard similarity</a:t>
            </a:r>
          </a:p>
          <a:p>
            <a:pPr lvl="2"/>
            <a:r>
              <a:rPr lang="en-NL" sz="1400" dirty="0"/>
              <a:t>applies to 0/1 data</a:t>
            </a:r>
          </a:p>
          <a:p>
            <a:pPr lvl="1"/>
            <a:endParaRPr lang="en-NL" sz="16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0FD20DF-FDF8-1DA1-A8E4-18A33A20BD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0264" y="2267919"/>
            <a:ext cx="3783245" cy="8207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8668F23-6612-037E-C39C-A806FEE693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7617" y="3495307"/>
            <a:ext cx="2087733" cy="187360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448AF90-8378-A6AE-1F55-033596607088}"/>
              </a:ext>
            </a:extLst>
          </p:cNvPr>
          <p:cNvSpPr txBox="1"/>
          <p:nvPr/>
        </p:nvSpPr>
        <p:spPr>
          <a:xfrm>
            <a:off x="7292856" y="3947625"/>
            <a:ext cx="17908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sz="1000" dirty="0"/>
              <a:t>S</a:t>
            </a:r>
            <a:r>
              <a:rPr lang="en-NL" sz="1000" baseline="-25000" dirty="0"/>
              <a:t>C</a:t>
            </a:r>
            <a:r>
              <a:rPr lang="en-NL" sz="1000" dirty="0"/>
              <a:t>(A, B) = 3.5/(1.4･2.25) = 0.98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E9F7BCC-B854-0DDD-62F7-227298EFD8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1640083"/>
            <a:ext cx="2201991" cy="16915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09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/>
              <a:t>Find Nearest Neighbours 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4A7E7DE-F866-2995-2433-C5C149DB26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1800" dirty="0"/>
              <a:t>Step 2. Define neighbourhood (size </a:t>
            </a:r>
            <a:r>
              <a:rPr lang="en-GB" sz="1800" i="1" dirty="0"/>
              <a:t>L</a:t>
            </a:r>
            <a:r>
              <a:rPr lang="en-GB" sz="1800" dirty="0"/>
              <a:t>)</a:t>
            </a:r>
          </a:p>
          <a:p>
            <a:pPr lvl="1"/>
            <a:r>
              <a:rPr lang="en-GB" sz="1600" dirty="0"/>
              <a:t>compute similarity</a:t>
            </a:r>
          </a:p>
          <a:p>
            <a:pPr lvl="1"/>
            <a:r>
              <a:rPr lang="en-GB" sz="1600" dirty="0"/>
              <a:t>sort and take first </a:t>
            </a:r>
            <a:r>
              <a:rPr lang="en-GB" sz="1600" i="1" dirty="0"/>
              <a:t>L </a:t>
            </a:r>
            <a:br>
              <a:rPr lang="en-GB" sz="1600" i="1" dirty="0"/>
            </a:br>
            <a:r>
              <a:rPr lang="en-GB" sz="1600" dirty="0"/>
              <a:t>(thresholding to get neighbourhood)</a:t>
            </a:r>
          </a:p>
          <a:p>
            <a:pPr lvl="1"/>
            <a:r>
              <a:rPr lang="en-GB" sz="1600" dirty="0"/>
              <a:t>aggregate scores of neighbourhood </a:t>
            </a:r>
            <a:br>
              <a:rPr lang="en-GB" sz="1600" dirty="0"/>
            </a:br>
            <a:r>
              <a:rPr lang="en-GB" sz="1600" dirty="0"/>
              <a:t>(e.g., take a weighted average rating)</a:t>
            </a:r>
          </a:p>
          <a:p>
            <a:endParaRPr lang="en-GB" sz="1800" dirty="0"/>
          </a:p>
          <a:p>
            <a:endParaRPr lang="en-NL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AA4C9-EB3A-83AE-2AA3-14BB28C61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/>
              <a:t>User-User Collaborative Filtering</a:t>
            </a:r>
            <a:endParaRPr lang="en-NL" sz="36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D07AC13-F715-F8F2-9B18-F2EA334671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20077" b="13540"/>
          <a:stretch>
            <a:fillRect/>
          </a:stretch>
        </p:blipFill>
        <p:spPr>
          <a:xfrm>
            <a:off x="628650" y="1931921"/>
            <a:ext cx="6303309" cy="1470186"/>
          </a:xfr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26A0778-3535-135A-ABEB-6A774DAB73A1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6343974" y="3431260"/>
            <a:ext cx="86563" cy="65831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6AA9025-F302-4B75-2CA7-E5878F3B60B7}"/>
              </a:ext>
            </a:extLst>
          </p:cNvPr>
          <p:cNvSpPr txBox="1"/>
          <p:nvPr/>
        </p:nvSpPr>
        <p:spPr>
          <a:xfrm>
            <a:off x="5570365" y="4089578"/>
            <a:ext cx="1547218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sz="1600" dirty="0"/>
              <a:t>Cosine similarity</a:t>
            </a:r>
          </a:p>
          <a:p>
            <a:r>
              <a:rPr lang="en-NL" sz="1600" dirty="0"/>
              <a:t>between user </a:t>
            </a:r>
            <a:r>
              <a:rPr lang="en-NL" sz="1600" i="1" dirty="0"/>
              <a:t>u</a:t>
            </a:r>
            <a:r>
              <a:rPr lang="en-NL" sz="1600" dirty="0"/>
              <a:t> </a:t>
            </a:r>
          </a:p>
          <a:p>
            <a:pPr algn="ctr"/>
            <a:r>
              <a:rPr lang="en-NL" sz="1600" dirty="0"/>
              <a:t>and user 3</a:t>
            </a:r>
          </a:p>
        </p:txBody>
      </p:sp>
    </p:spTree>
    <p:extLst>
      <p:ext uri="{BB962C8B-B14F-4D97-AF65-F5344CB8AC3E}">
        <p14:creationId xmlns:p14="http://schemas.microsoft.com/office/powerpoint/2010/main" val="15092615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D8A38-F52B-E957-0227-B4FAFE5F4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EFE09-2FC8-39E7-5085-2EBA00D3A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/>
              <a:t>User-User Collaborative Filtering</a:t>
            </a:r>
            <a:endParaRPr lang="en-NL" sz="36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05EDEE2-5423-DBA6-0991-23ABEAAAA7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10784" b="13540"/>
          <a:stretch>
            <a:fillRect/>
          </a:stretch>
        </p:blipFill>
        <p:spPr>
          <a:xfrm>
            <a:off x="628650" y="1931921"/>
            <a:ext cx="7036174" cy="1470186"/>
          </a:xfrm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9026E9A9-A7D5-C6F1-ECC8-08020825CEC7}"/>
              </a:ext>
            </a:extLst>
          </p:cNvPr>
          <p:cNvCxnSpPr>
            <a:cxnSpLocks/>
          </p:cNvCxnSpPr>
          <p:nvPr/>
        </p:nvCxnSpPr>
        <p:spPr>
          <a:xfrm flipV="1">
            <a:off x="7290708" y="3429000"/>
            <a:ext cx="0" cy="38471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E865331-34E4-3DE8-DDFB-3DABB9CFC074}"/>
              </a:ext>
            </a:extLst>
          </p:cNvPr>
          <p:cNvSpPr txBox="1"/>
          <p:nvPr/>
        </p:nvSpPr>
        <p:spPr>
          <a:xfrm>
            <a:off x="6882832" y="3744306"/>
            <a:ext cx="7500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sz="1600" dirty="0"/>
              <a:t>weight</a:t>
            </a:r>
            <a:endParaRPr lang="en-NL" dirty="0"/>
          </a:p>
        </p:txBody>
      </p:sp>
      <p:sp>
        <p:nvSpPr>
          <p:cNvPr id="8" name="Rounded Rectangular Callout 7">
            <a:extLst>
              <a:ext uri="{FF2B5EF4-FFF2-40B4-BE49-F238E27FC236}">
                <a16:creationId xmlns:a16="http://schemas.microsoft.com/office/drawing/2014/main" id="{ADE7CB7E-2181-F72F-746D-2F17BBF94635}"/>
              </a:ext>
            </a:extLst>
          </p:cNvPr>
          <p:cNvSpPr/>
          <p:nvPr/>
        </p:nvSpPr>
        <p:spPr>
          <a:xfrm>
            <a:off x="7180729" y="1680882"/>
            <a:ext cx="1082488" cy="383242"/>
          </a:xfrm>
          <a:prstGeom prst="wedgeRoundRectCallout">
            <a:avLst>
              <a:gd name="adj1" fmla="val -28908"/>
              <a:gd name="adj2" fmla="val 95833"/>
              <a:gd name="adj3" fmla="val 16667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NL" sz="1050" dirty="0"/>
              <a:t>no weight, since no rating</a:t>
            </a:r>
          </a:p>
        </p:txBody>
      </p:sp>
    </p:spTree>
    <p:extLst>
      <p:ext uri="{BB962C8B-B14F-4D97-AF65-F5344CB8AC3E}">
        <p14:creationId xmlns:p14="http://schemas.microsoft.com/office/powerpoint/2010/main" val="2665345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33ECF-86C4-E5EA-A4D9-B508F5CE8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EBD23-47BE-529E-8FA8-14428CC46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/>
              <a:t>User-User Collaborative Filtering</a:t>
            </a:r>
            <a:endParaRPr lang="en-NL" sz="36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8B58D0D-4BF5-4C12-C90F-6A5F5F853F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128" b="13540"/>
          <a:stretch>
            <a:fillRect/>
          </a:stretch>
        </p:blipFill>
        <p:spPr>
          <a:xfrm>
            <a:off x="628649" y="1931921"/>
            <a:ext cx="7876615" cy="1470186"/>
          </a:xfr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5615D1F-2366-5318-BA8E-CE846C52007D}"/>
              </a:ext>
            </a:extLst>
          </p:cNvPr>
          <p:cNvCxnSpPr/>
          <p:nvPr/>
        </p:nvCxnSpPr>
        <p:spPr>
          <a:xfrm flipV="1">
            <a:off x="8103220" y="3421321"/>
            <a:ext cx="0" cy="56167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5659070-254F-5D7C-AD32-6D12D422A4CF}"/>
              </a:ext>
            </a:extLst>
          </p:cNvPr>
          <p:cNvSpPr txBox="1"/>
          <p:nvPr/>
        </p:nvSpPr>
        <p:spPr>
          <a:xfrm>
            <a:off x="7419186" y="4029216"/>
            <a:ext cx="13680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NL" sz="1600" dirty="0"/>
              <a:t>weighted</a:t>
            </a:r>
          </a:p>
          <a:p>
            <a:pPr algn="ctr"/>
            <a:r>
              <a:rPr lang="en-NL" sz="1600" dirty="0"/>
              <a:t>score per user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884EBCD-063C-76D5-AB37-75EEE36C8E91}"/>
              </a:ext>
            </a:extLst>
          </p:cNvPr>
          <p:cNvCxnSpPr>
            <a:cxnSpLocks/>
          </p:cNvCxnSpPr>
          <p:nvPr/>
        </p:nvCxnSpPr>
        <p:spPr>
          <a:xfrm flipV="1">
            <a:off x="7290708" y="3429000"/>
            <a:ext cx="0" cy="38471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9B3A148-ED95-3494-4DC9-476BBFF7EB57}"/>
              </a:ext>
            </a:extLst>
          </p:cNvPr>
          <p:cNvSpPr txBox="1"/>
          <p:nvPr/>
        </p:nvSpPr>
        <p:spPr>
          <a:xfrm>
            <a:off x="6882832" y="3744306"/>
            <a:ext cx="7500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sz="1600" dirty="0"/>
              <a:t>weight</a:t>
            </a:r>
            <a:endParaRPr lang="en-NL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C3DB3A8-B389-E892-AC96-30F812203F12}"/>
              </a:ext>
            </a:extLst>
          </p:cNvPr>
          <p:cNvCxnSpPr>
            <a:cxnSpLocks/>
          </p:cNvCxnSpPr>
          <p:nvPr/>
        </p:nvCxnSpPr>
        <p:spPr>
          <a:xfrm flipV="1">
            <a:off x="2871108" y="3429000"/>
            <a:ext cx="0" cy="38471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08456CD-9DD0-0356-0EDE-94F743E84B7A}"/>
              </a:ext>
            </a:extLst>
          </p:cNvPr>
          <p:cNvSpPr txBox="1"/>
          <p:nvPr/>
        </p:nvSpPr>
        <p:spPr>
          <a:xfrm>
            <a:off x="2563969" y="3744306"/>
            <a:ext cx="6306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sz="1600" dirty="0"/>
              <a:t>score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440300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2E4DA4-97AF-4A3D-78C0-FF418405C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4FC29-4C56-38E6-7D1A-D3D953401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/>
              <a:t>User-User Collaborative Filtering</a:t>
            </a:r>
            <a:endParaRPr lang="en-NL" sz="36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59F40DF-A670-6851-EDA2-42597989C0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128" b="-860"/>
          <a:stretch>
            <a:fillRect/>
          </a:stretch>
        </p:blipFill>
        <p:spPr>
          <a:xfrm>
            <a:off x="628649" y="1931921"/>
            <a:ext cx="7876615" cy="1715046"/>
          </a:xfrm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111A4F65-3B17-ED3B-BABE-0A90B35770F6}"/>
              </a:ext>
            </a:extLst>
          </p:cNvPr>
          <p:cNvCxnSpPr>
            <a:cxnSpLocks/>
          </p:cNvCxnSpPr>
          <p:nvPr/>
        </p:nvCxnSpPr>
        <p:spPr>
          <a:xfrm>
            <a:off x="7704532" y="3889737"/>
            <a:ext cx="0" cy="56911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B82F064-DC83-025F-D497-14C6254F01B0}"/>
              </a:ext>
            </a:extLst>
          </p:cNvPr>
          <p:cNvSpPr txBox="1"/>
          <p:nvPr/>
        </p:nvSpPr>
        <p:spPr>
          <a:xfrm>
            <a:off x="6332922" y="4456723"/>
            <a:ext cx="2531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i="1" dirty="0"/>
              <a:t>R</a:t>
            </a:r>
            <a:r>
              <a:rPr lang="en-NL" dirty="0"/>
              <a:t>(</a:t>
            </a:r>
            <a:r>
              <a:rPr lang="en-NL" i="1" dirty="0"/>
              <a:t>u</a:t>
            </a:r>
            <a:r>
              <a:rPr lang="en-NL" baseline="-25000" dirty="0"/>
              <a:t>3</a:t>
            </a:r>
            <a:r>
              <a:rPr lang="en-NL" dirty="0"/>
              <a:t>, </a:t>
            </a:r>
            <a:r>
              <a:rPr lang="en-NL" i="1" dirty="0"/>
              <a:t>i</a:t>
            </a:r>
            <a:r>
              <a:rPr lang="en-NL" baseline="-25000" dirty="0"/>
              <a:t>3</a:t>
            </a:r>
            <a:r>
              <a:rPr lang="en-NL" dirty="0"/>
              <a:t>) = 4.94/1.97 = </a:t>
            </a:r>
            <a:r>
              <a:rPr lang="en-NL" dirty="0">
                <a:solidFill>
                  <a:srgbClr val="FF0000"/>
                </a:solidFill>
              </a:rPr>
              <a:t>2.5</a:t>
            </a:r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7AFD8C15-4780-4EA5-08D6-8436FFE43A1D}"/>
              </a:ext>
            </a:extLst>
          </p:cNvPr>
          <p:cNvSpPr/>
          <p:nvPr/>
        </p:nvSpPr>
        <p:spPr>
          <a:xfrm rot="16200000">
            <a:off x="7574709" y="2982481"/>
            <a:ext cx="264119" cy="1586021"/>
          </a:xfrm>
          <a:prstGeom prst="leftBrace">
            <a:avLst>
              <a:gd name="adj1" fmla="val 38841"/>
              <a:gd name="adj2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7697969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DFAB3-AF52-659E-C2B0-E49F222C3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i="1" dirty="0">
                <a:solidFill>
                  <a:srgbClr val="FF0000"/>
                </a:solidFill>
              </a:rPr>
              <a:t>Item-Item</a:t>
            </a:r>
            <a:r>
              <a:rPr lang="en-GB" sz="3600" dirty="0"/>
              <a:t> Collaborative Filtering</a:t>
            </a:r>
            <a:endParaRPr lang="en-NL" sz="36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3E15B7F-E3BB-4451-CB31-68D0A51F86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10748" b="36591"/>
          <a:stretch/>
        </p:blipFill>
        <p:spPr>
          <a:xfrm>
            <a:off x="1766075" y="1769747"/>
            <a:ext cx="4753671" cy="1478975"/>
          </a:xfrm>
        </p:spPr>
      </p:pic>
    </p:spTree>
    <p:extLst>
      <p:ext uri="{BB962C8B-B14F-4D97-AF65-F5344CB8AC3E}">
        <p14:creationId xmlns:p14="http://schemas.microsoft.com/office/powerpoint/2010/main" val="16037276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DFAB3-AF52-659E-C2B0-E49F222C3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/>
              <a:t>Item-Item Collaborative Filtering</a:t>
            </a:r>
            <a:endParaRPr lang="en-NL" sz="36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3E15B7F-E3BB-4451-CB31-68D0A51F86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10608" b="19061"/>
          <a:stretch/>
        </p:blipFill>
        <p:spPr>
          <a:xfrm>
            <a:off x="1766075" y="1769747"/>
            <a:ext cx="4761105" cy="1887853"/>
          </a:xfrm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62111E4D-21FD-55E4-9140-C3A1257803DD}"/>
              </a:ext>
            </a:extLst>
          </p:cNvPr>
          <p:cNvCxnSpPr>
            <a:cxnSpLocks/>
          </p:cNvCxnSpPr>
          <p:nvPr/>
        </p:nvCxnSpPr>
        <p:spPr>
          <a:xfrm flipH="1">
            <a:off x="6579220" y="3560956"/>
            <a:ext cx="79870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3BE3FCCB-5A41-F1B4-2A65-E94420756D7C}"/>
              </a:ext>
            </a:extLst>
          </p:cNvPr>
          <p:cNvSpPr txBox="1"/>
          <p:nvPr/>
        </p:nvSpPr>
        <p:spPr>
          <a:xfrm>
            <a:off x="7423657" y="3116768"/>
            <a:ext cx="1547218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sz="1600" dirty="0"/>
              <a:t>Cosine similarity</a:t>
            </a:r>
          </a:p>
          <a:p>
            <a:r>
              <a:rPr lang="en-NL" sz="1600" dirty="0"/>
              <a:t>between item </a:t>
            </a:r>
            <a:r>
              <a:rPr lang="en-NL" sz="1600" i="1" dirty="0"/>
              <a:t>i</a:t>
            </a:r>
            <a:r>
              <a:rPr lang="en-NL" sz="1600" dirty="0"/>
              <a:t> </a:t>
            </a:r>
          </a:p>
          <a:p>
            <a:pPr algn="ctr"/>
            <a:r>
              <a:rPr lang="en-NL" sz="1600" dirty="0"/>
              <a:t>and item 3</a:t>
            </a:r>
          </a:p>
        </p:txBody>
      </p:sp>
    </p:spTree>
    <p:extLst>
      <p:ext uri="{BB962C8B-B14F-4D97-AF65-F5344CB8AC3E}">
        <p14:creationId xmlns:p14="http://schemas.microsoft.com/office/powerpoint/2010/main" val="5651543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DFAB3-AF52-659E-C2B0-E49F222C3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/>
              <a:t>Item-Item Collaborative Filtering</a:t>
            </a:r>
            <a:endParaRPr lang="en-NL" sz="36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3E15B7F-E3BB-4451-CB31-68D0A51F86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10608"/>
          <a:stretch/>
        </p:blipFill>
        <p:spPr>
          <a:xfrm>
            <a:off x="1766075" y="1769747"/>
            <a:ext cx="4761105" cy="2332440"/>
          </a:xfrm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AED9159C-00CC-C329-A92D-36FBB6826FA1}"/>
              </a:ext>
            </a:extLst>
          </p:cNvPr>
          <p:cNvCxnSpPr>
            <a:cxnSpLocks/>
          </p:cNvCxnSpPr>
          <p:nvPr/>
        </p:nvCxnSpPr>
        <p:spPr>
          <a:xfrm flipH="1">
            <a:off x="6579220" y="3873187"/>
            <a:ext cx="79870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4D29C7F1-47C0-1F51-AEA8-4828EA3B05DB}"/>
              </a:ext>
            </a:extLst>
          </p:cNvPr>
          <p:cNvSpPr txBox="1"/>
          <p:nvPr/>
        </p:nvSpPr>
        <p:spPr>
          <a:xfrm>
            <a:off x="7423657" y="3570246"/>
            <a:ext cx="14503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sz="1600" dirty="0"/>
              <a:t>weights and</a:t>
            </a:r>
          </a:p>
          <a:p>
            <a:r>
              <a:rPr lang="en-NL" sz="1600" dirty="0"/>
              <a:t>weighted score</a:t>
            </a:r>
          </a:p>
        </p:txBody>
      </p:sp>
    </p:spTree>
    <p:extLst>
      <p:ext uri="{BB962C8B-B14F-4D97-AF65-F5344CB8AC3E}">
        <p14:creationId xmlns:p14="http://schemas.microsoft.com/office/powerpoint/2010/main" val="20668826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DFAB3-AF52-659E-C2B0-E49F222C3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/>
              <a:t>Item-Item Collaborative Filtering</a:t>
            </a:r>
            <a:endParaRPr lang="en-NL" sz="36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3E15B7F-E3BB-4451-CB31-68D0A51F86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66075" y="1769747"/>
            <a:ext cx="5326101" cy="2332440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7872CA7-76E1-3BED-65F3-17AAE75BF64F}"/>
              </a:ext>
            </a:extLst>
          </p:cNvPr>
          <p:cNvSpPr txBox="1"/>
          <p:nvPr/>
        </p:nvSpPr>
        <p:spPr>
          <a:xfrm>
            <a:off x="6332922" y="4456723"/>
            <a:ext cx="2531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i="1" dirty="0"/>
              <a:t>R</a:t>
            </a:r>
            <a:r>
              <a:rPr lang="en-NL" dirty="0"/>
              <a:t>(</a:t>
            </a:r>
            <a:r>
              <a:rPr lang="en-NL" i="1" dirty="0"/>
              <a:t>u</a:t>
            </a:r>
            <a:r>
              <a:rPr lang="en-NL" baseline="-25000" dirty="0"/>
              <a:t>3</a:t>
            </a:r>
            <a:r>
              <a:rPr lang="en-NL" dirty="0"/>
              <a:t>, </a:t>
            </a:r>
            <a:r>
              <a:rPr lang="en-NL" i="1" dirty="0"/>
              <a:t>i</a:t>
            </a:r>
            <a:r>
              <a:rPr lang="en-NL" baseline="-25000" dirty="0"/>
              <a:t>3</a:t>
            </a:r>
            <a:r>
              <a:rPr lang="en-NL" dirty="0"/>
              <a:t>) = 4.66/1.04 = </a:t>
            </a:r>
            <a:r>
              <a:rPr lang="en-NL" dirty="0">
                <a:solidFill>
                  <a:srgbClr val="FF0000"/>
                </a:solidFill>
              </a:rPr>
              <a:t>4.5</a:t>
            </a:r>
          </a:p>
        </p:txBody>
      </p:sp>
    </p:spTree>
    <p:extLst>
      <p:ext uri="{BB962C8B-B14F-4D97-AF65-F5344CB8AC3E}">
        <p14:creationId xmlns:p14="http://schemas.microsoft.com/office/powerpoint/2010/main" val="25701252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D4CBC-94AA-46A2-522E-B3C764EE5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NL" sz="3600" dirty="0"/>
              <a:t>User-User and Item-Item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A29834-3EAA-0717-E644-AE5774D79E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289785"/>
            <a:ext cx="8386561" cy="5380522"/>
          </a:xfrm>
        </p:spPr>
        <p:txBody>
          <a:bodyPr>
            <a:normAutofit/>
          </a:bodyPr>
          <a:lstStyle/>
          <a:p>
            <a:r>
              <a:rPr lang="en-GB" sz="1800" dirty="0"/>
              <a:t>User-User CF recommends items to a user based on the preferences of similar users. It assumes that users who have agreed in the past will agree in the future</a:t>
            </a:r>
          </a:p>
          <a:p>
            <a:r>
              <a:rPr lang="en-GB" sz="1800" dirty="0"/>
              <a:t>Item-Item CF recommends items to a user based on the similarity between items. </a:t>
            </a:r>
            <a:br>
              <a:rPr lang="en-GB" sz="1800" dirty="0"/>
            </a:br>
            <a:r>
              <a:rPr lang="en-GB" sz="1800" dirty="0"/>
              <a:t>It assumes that if a user likes a particular item, they will like similar items</a:t>
            </a:r>
            <a:endParaRPr lang="en-NL" sz="1800" dirty="0"/>
          </a:p>
          <a:p>
            <a:endParaRPr lang="en-NL" sz="1600" dirty="0"/>
          </a:p>
          <a:p>
            <a:endParaRPr lang="en-NL" sz="1600" dirty="0"/>
          </a:p>
          <a:p>
            <a:endParaRPr lang="en-NL" sz="1600" dirty="0"/>
          </a:p>
          <a:p>
            <a:endParaRPr lang="en-NL" sz="1600" dirty="0"/>
          </a:p>
          <a:p>
            <a:endParaRPr lang="en-NL" sz="16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9F1D851-1B67-2CAD-7B7D-A278994AB8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3921529"/>
              </p:ext>
            </p:extLst>
          </p:nvPr>
        </p:nvGraphicFramePr>
        <p:xfrm>
          <a:off x="1066800" y="3606666"/>
          <a:ext cx="701040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6800">
                  <a:extLst>
                    <a:ext uri="{9D8B030D-6E8A-4147-A177-3AD203B41FA5}">
                      <a16:colId xmlns:a16="http://schemas.microsoft.com/office/drawing/2014/main" val="1459780830"/>
                    </a:ext>
                  </a:extLst>
                </a:gridCol>
                <a:gridCol w="2336800">
                  <a:extLst>
                    <a:ext uri="{9D8B030D-6E8A-4147-A177-3AD203B41FA5}">
                      <a16:colId xmlns:a16="http://schemas.microsoft.com/office/drawing/2014/main" val="1374574031"/>
                    </a:ext>
                  </a:extLst>
                </a:gridCol>
                <a:gridCol w="2336800">
                  <a:extLst>
                    <a:ext uri="{9D8B030D-6E8A-4147-A177-3AD203B41FA5}">
                      <a16:colId xmlns:a16="http://schemas.microsoft.com/office/drawing/2014/main" val="11057836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100" dirty="0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100"/>
                        <a:t>User-User CF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100"/>
                        <a:t>Item-Item CF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87075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100"/>
                        <a:t>Basis for Recommendations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100"/>
                        <a:t>Similarity between users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100"/>
                        <a:t>Similarity between items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721214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100"/>
                        <a:t>Scalability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100"/>
                        <a:t>Less scalable with large user bases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100"/>
                        <a:t>More scalable with large item bases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494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100"/>
                        <a:t>Data Sparsity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100"/>
                        <a:t>Can be problematic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100"/>
                        <a:t>Less problematic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09310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100" b="1" dirty="0"/>
                        <a:t>Cold Start Problem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100" b="1" dirty="0"/>
                        <a:t>New users pose a challenge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100" b="1" dirty="0"/>
                        <a:t>New items pose a challenge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74281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100"/>
                        <a:t>Personalization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100"/>
                        <a:t>High personalization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100"/>
                        <a:t>Less personalization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6214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100"/>
                        <a:t>Stability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100" dirty="0"/>
                        <a:t>May fluctuate with user </a:t>
                      </a:r>
                      <a:r>
                        <a:rPr lang="en-GB" sz="1100" dirty="0" err="1"/>
                        <a:t>behavior</a:t>
                      </a:r>
                      <a:endParaRPr lang="en-GB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100" dirty="0"/>
                        <a:t>More stable over time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71834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89225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379" name="Rectangle 3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Collaborative Filtering: Summary</a:t>
            </a:r>
          </a:p>
        </p:txBody>
      </p:sp>
      <p:sp>
        <p:nvSpPr>
          <p:cNvPr id="357378" name="Rectangle 2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>
          <a:noFill/>
          <a:ln/>
        </p:spPr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en-GB" sz="1800" b="1" dirty="0"/>
              <a:t>Three steps:</a:t>
            </a:r>
          </a:p>
          <a:p>
            <a:pPr lvl="1">
              <a:lnSpc>
                <a:spcPct val="80000"/>
              </a:lnSpc>
            </a:pPr>
            <a:r>
              <a:rPr lang="en-GB" sz="1600" dirty="0"/>
              <a:t>Represent data: rating/utility matrix</a:t>
            </a:r>
          </a:p>
          <a:p>
            <a:pPr lvl="1">
              <a:lnSpc>
                <a:spcPct val="80000"/>
              </a:lnSpc>
            </a:pPr>
            <a:r>
              <a:rPr lang="en-GB" sz="1600" dirty="0"/>
              <a:t>Define neighbourhood: cosine, Pearson correlation, </a:t>
            </a:r>
            <a:r>
              <a:rPr lang="en-GB" sz="1600" dirty="0" err="1"/>
              <a:t>Jaccard</a:t>
            </a:r>
            <a:r>
              <a:rPr lang="en-GB" sz="1600" dirty="0"/>
              <a:t>, ...</a:t>
            </a:r>
          </a:p>
          <a:p>
            <a:pPr lvl="1">
              <a:lnSpc>
                <a:spcPct val="80000"/>
              </a:lnSpc>
            </a:pPr>
            <a:r>
              <a:rPr lang="en-GB" sz="1600" dirty="0"/>
              <a:t>Make predictions or recommendations: weighting scheme</a:t>
            </a:r>
          </a:p>
          <a:p>
            <a:pPr lvl="1">
              <a:lnSpc>
                <a:spcPct val="80000"/>
              </a:lnSpc>
            </a:pPr>
            <a:endParaRPr lang="en-GB" sz="1600" dirty="0"/>
          </a:p>
          <a:p>
            <a:pPr>
              <a:lnSpc>
                <a:spcPct val="80000"/>
              </a:lnSpc>
            </a:pPr>
            <a:r>
              <a:rPr lang="en-GB" sz="1800" b="1" dirty="0"/>
              <a:t>Advantages:</a:t>
            </a:r>
            <a:r>
              <a:rPr lang="en-GB" sz="1800" dirty="0"/>
              <a:t> </a:t>
            </a:r>
          </a:p>
          <a:p>
            <a:pPr lvl="1">
              <a:lnSpc>
                <a:spcPct val="80000"/>
              </a:lnSpc>
            </a:pPr>
            <a:r>
              <a:rPr lang="en-GB" sz="1600" dirty="0"/>
              <a:t>can recommend items that are not linked to the user’s earlier choices </a:t>
            </a:r>
            <a:br>
              <a:rPr lang="en-US" sz="1600" dirty="0"/>
            </a:br>
            <a:r>
              <a:rPr lang="en-GB" sz="1600" dirty="0"/>
              <a:t>(useful for promotions)</a:t>
            </a:r>
          </a:p>
          <a:p>
            <a:pPr lvl="1">
              <a:lnSpc>
                <a:spcPct val="80000"/>
              </a:lnSpc>
            </a:pPr>
            <a:r>
              <a:rPr lang="en-GB" sz="1600" dirty="0"/>
              <a:t>considers the opinions of a wide spectrum of users </a:t>
            </a:r>
          </a:p>
          <a:p>
            <a:pPr>
              <a:lnSpc>
                <a:spcPct val="80000"/>
              </a:lnSpc>
            </a:pPr>
            <a:endParaRPr lang="en-GB" sz="1800" dirty="0"/>
          </a:p>
          <a:p>
            <a:pPr>
              <a:lnSpc>
                <a:spcPct val="80000"/>
              </a:lnSpc>
            </a:pPr>
            <a:r>
              <a:rPr lang="en-GB" sz="1800" b="1" dirty="0"/>
              <a:t>Limitations:</a:t>
            </a:r>
            <a:r>
              <a:rPr lang="en-GB" sz="1800" dirty="0"/>
              <a:t> </a:t>
            </a:r>
          </a:p>
          <a:p>
            <a:pPr lvl="1">
              <a:lnSpc>
                <a:spcPct val="80000"/>
              </a:lnSpc>
            </a:pPr>
            <a:r>
              <a:rPr lang="en-GB" sz="1600" dirty="0"/>
              <a:t>Sparsity </a:t>
            </a:r>
            <a:r>
              <a:rPr lang="en-US" sz="1600" dirty="0"/>
              <a:t>of data</a:t>
            </a:r>
            <a:endParaRPr lang="en-GB" sz="1600" dirty="0"/>
          </a:p>
          <a:p>
            <a:pPr lvl="1">
              <a:lnSpc>
                <a:spcPct val="80000"/>
              </a:lnSpc>
            </a:pPr>
            <a:r>
              <a:rPr lang="en-GB" sz="1600" dirty="0"/>
              <a:t>Individual characteristics are not </a:t>
            </a:r>
            <a:r>
              <a:rPr lang="en-US" sz="1600" dirty="0"/>
              <a:t>taken into account</a:t>
            </a:r>
            <a:endParaRPr lang="en-GB" sz="1600" dirty="0"/>
          </a:p>
          <a:p>
            <a:pPr lvl="1">
              <a:lnSpc>
                <a:spcPct val="80000"/>
              </a:lnSpc>
            </a:pPr>
            <a:r>
              <a:rPr lang="en-GB" sz="1600" dirty="0"/>
              <a:t>Tends to recommend popular items (convergence around few items)</a:t>
            </a:r>
          </a:p>
          <a:p>
            <a:pPr lvl="1">
              <a:lnSpc>
                <a:spcPct val="80000"/>
              </a:lnSpc>
            </a:pPr>
            <a:r>
              <a:rPr lang="en-US" sz="1600" dirty="0"/>
              <a:t>Computationally very expensive (time &amp; memory)</a:t>
            </a:r>
            <a:r>
              <a:rPr lang="en-GB" sz="1600" dirty="0"/>
              <a:t> </a:t>
            </a:r>
            <a:endParaRPr lang="en-GB" sz="600" dirty="0"/>
          </a:p>
          <a:p>
            <a:pPr lvl="1">
              <a:lnSpc>
                <a:spcPct val="80000"/>
              </a:lnSpc>
            </a:pPr>
            <a:endParaRPr lang="en-GB" sz="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5DC5AAF-AE2F-13BF-DB1A-0CD57689D1B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NL" sz="4800" dirty="0"/>
              <a:t>break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C0DD1D81-3DD4-EE0C-7725-E48CBD07FF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0864847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01D499E-4D76-6643-48E9-7B0B27CA09A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NL" dirty="0"/>
              <a:t>Netflix Challenge &amp; </a:t>
            </a:r>
            <a:r>
              <a:rPr lang="en-GB" dirty="0"/>
              <a:t>Matrix Factorisation</a:t>
            </a:r>
            <a:endParaRPr lang="en-NL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24E80BEE-B537-7F87-ED7B-05E747BF21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52402257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C7A5E61A-2618-A556-015B-97EDADD79DA0}"/>
              </a:ext>
            </a:extLst>
          </p:cNvPr>
          <p:cNvGrpSpPr/>
          <p:nvPr/>
        </p:nvGrpSpPr>
        <p:grpSpPr>
          <a:xfrm>
            <a:off x="1724722" y="1515953"/>
            <a:ext cx="6021658" cy="4401627"/>
            <a:chOff x="1955180" y="706282"/>
            <a:chExt cx="5233639" cy="3826093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C6464B14-4835-7C7F-B950-F9AF24963E0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b="64444"/>
            <a:stretch/>
          </p:blipFill>
          <p:spPr>
            <a:xfrm>
              <a:off x="1955180" y="706282"/>
              <a:ext cx="5233639" cy="1077914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44E7A99-98A7-0258-4588-32D463786FD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55180" y="1784196"/>
              <a:ext cx="5233639" cy="2748179"/>
            </a:xfrm>
            <a:prstGeom prst="rect">
              <a:avLst/>
            </a:prstGeom>
          </p:spPr>
        </p:pic>
      </p:grpSp>
      <p:sp>
        <p:nvSpPr>
          <p:cNvPr id="8" name="Title 7">
            <a:extLst>
              <a:ext uri="{FF2B5EF4-FFF2-40B4-BE49-F238E27FC236}">
                <a16:creationId xmlns:a16="http://schemas.microsoft.com/office/drawing/2014/main" id="{2C0D75D0-236C-BEC3-2433-0F680B8C4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Netflix Now and Then</a:t>
            </a:r>
          </a:p>
        </p:txBody>
      </p:sp>
    </p:spTree>
    <p:extLst>
      <p:ext uri="{BB962C8B-B14F-4D97-AF65-F5344CB8AC3E}">
        <p14:creationId xmlns:p14="http://schemas.microsoft.com/office/powerpoint/2010/main" val="241838150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C7A5E61A-2618-A556-015B-97EDADD79DA0}"/>
              </a:ext>
            </a:extLst>
          </p:cNvPr>
          <p:cNvGrpSpPr/>
          <p:nvPr/>
        </p:nvGrpSpPr>
        <p:grpSpPr>
          <a:xfrm>
            <a:off x="1724722" y="1515953"/>
            <a:ext cx="6021658" cy="4401627"/>
            <a:chOff x="1955180" y="706282"/>
            <a:chExt cx="5233639" cy="3826093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C6464B14-4835-7C7F-B950-F9AF24963E0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b="64444"/>
            <a:stretch/>
          </p:blipFill>
          <p:spPr>
            <a:xfrm>
              <a:off x="1955180" y="706282"/>
              <a:ext cx="5233639" cy="1077914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44E7A99-98A7-0258-4588-32D463786FD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55180" y="1784196"/>
              <a:ext cx="5233639" cy="2748179"/>
            </a:xfrm>
            <a:prstGeom prst="rect">
              <a:avLst/>
            </a:prstGeom>
          </p:spPr>
        </p:pic>
      </p:grpSp>
      <p:pic>
        <p:nvPicPr>
          <p:cNvPr id="232451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180170" y="1157481"/>
            <a:ext cx="6783659" cy="50877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2C0D75D0-236C-BEC3-2433-0F680B8C4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/>
              <a:t>Netflix Now and Then</a:t>
            </a:r>
          </a:p>
        </p:txBody>
      </p:sp>
    </p:spTree>
    <p:extLst>
      <p:ext uri="{BB962C8B-B14F-4D97-AF65-F5344CB8AC3E}">
        <p14:creationId xmlns:p14="http://schemas.microsoft.com/office/powerpoint/2010/main" val="205132334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474" name="Picture 2"/>
          <p:cNvPicPr>
            <a:picLocks noChangeAspect="1" noChangeArrowheads="1"/>
          </p:cNvPicPr>
          <p:nvPr/>
        </p:nvPicPr>
        <p:blipFill rotWithShape="1">
          <a:blip r:embed="rId2" cstate="print"/>
          <a:srcRect t="17234"/>
          <a:stretch/>
        </p:blipFill>
        <p:spPr bwMode="auto">
          <a:xfrm>
            <a:off x="1143000" y="1729740"/>
            <a:ext cx="6858000" cy="41900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76798294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50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>
            <a:normAutofit/>
          </a:bodyPr>
          <a:lstStyle/>
          <a:p>
            <a:r>
              <a:rPr lang="en-US" sz="3600" dirty="0"/>
              <a:t>What is NETFLIX (in 2006)?</a:t>
            </a:r>
            <a:endParaRPr lang="en-US" sz="6000" b="1" dirty="0"/>
          </a:p>
        </p:txBody>
      </p:sp>
      <p:sp>
        <p:nvSpPr>
          <p:cNvPr id="206852" name="Rectangle 4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ct val="50000"/>
              </a:spcBef>
            </a:pPr>
            <a:r>
              <a:rPr lang="en-US" sz="1800" dirty="0"/>
              <a:t>Biggest on-line DVD movie rental company:</a:t>
            </a:r>
          </a:p>
          <a:p>
            <a:pPr lvl="1">
              <a:spcBef>
                <a:spcPct val="50000"/>
              </a:spcBef>
            </a:pPr>
            <a:r>
              <a:rPr lang="en-US" sz="1600" dirty="0"/>
              <a:t>5 million active customers</a:t>
            </a:r>
          </a:p>
          <a:p>
            <a:pPr lvl="1">
              <a:spcBef>
                <a:spcPct val="50000"/>
              </a:spcBef>
            </a:pPr>
            <a:r>
              <a:rPr lang="en-US" sz="1600" dirty="0"/>
              <a:t>80.000 movies to choose from</a:t>
            </a:r>
          </a:p>
          <a:p>
            <a:pPr lvl="1">
              <a:spcBef>
                <a:spcPct val="50000"/>
              </a:spcBef>
            </a:pPr>
            <a:r>
              <a:rPr lang="en-US" sz="1600" dirty="0"/>
              <a:t>ship 2 million disks per day</a:t>
            </a:r>
          </a:p>
          <a:p>
            <a:pPr>
              <a:spcBef>
                <a:spcPct val="50000"/>
              </a:spcBef>
            </a:pPr>
            <a:r>
              <a:rPr lang="en-US" sz="1800" dirty="0"/>
              <a:t>How do people choose from 80.000 movies?</a:t>
            </a:r>
          </a:p>
          <a:p>
            <a:pPr lvl="1">
              <a:spcBef>
                <a:spcPct val="50000"/>
              </a:spcBef>
            </a:pPr>
            <a:r>
              <a:rPr lang="en-US" sz="1600" dirty="0"/>
              <a:t>Get feedback: 3 million ratings per day</a:t>
            </a:r>
          </a:p>
          <a:p>
            <a:pPr lvl="1">
              <a:spcBef>
                <a:spcPct val="50000"/>
              </a:spcBef>
            </a:pPr>
            <a:r>
              <a:rPr lang="en-US" sz="1600" dirty="0"/>
              <a:t>Analyze data and predict preferences: </a:t>
            </a:r>
            <a:br>
              <a:rPr lang="en-US" sz="1600" dirty="0"/>
            </a:br>
            <a:r>
              <a:rPr lang="en-US" sz="1600" dirty="0"/>
              <a:t>1 billion predictions per day</a:t>
            </a:r>
          </a:p>
          <a:p>
            <a:pPr lvl="1">
              <a:spcBef>
                <a:spcPct val="50000"/>
              </a:spcBef>
            </a:pPr>
            <a:r>
              <a:rPr lang="en-US" sz="1600" dirty="0"/>
              <a:t>The CINEMATCH system: state-of-the-art (in 2006)</a:t>
            </a:r>
          </a:p>
        </p:txBody>
      </p:sp>
    </p:spTree>
    <p:extLst>
      <p:ext uri="{BB962C8B-B14F-4D97-AF65-F5344CB8AC3E}">
        <p14:creationId xmlns:p14="http://schemas.microsoft.com/office/powerpoint/2010/main" val="415811181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402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>
            <a:normAutofit/>
          </a:bodyPr>
          <a:lstStyle/>
          <a:p>
            <a:r>
              <a:rPr lang="en-US" sz="3600" dirty="0"/>
              <a:t>NETFLIX (2006) expected in 2010-2012</a:t>
            </a:r>
            <a:endParaRPr lang="en-US" sz="6000" b="1" dirty="0">
              <a:solidFill>
                <a:schemeClr val="tx1"/>
              </a:solidFill>
            </a:endParaRPr>
          </a:p>
        </p:txBody>
      </p:sp>
      <p:sp>
        <p:nvSpPr>
          <p:cNvPr id="230404" name="Rectangle 4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ct val="50000"/>
              </a:spcBef>
            </a:pPr>
            <a:r>
              <a:rPr lang="en-US" sz="1800" dirty="0"/>
              <a:t>20 million subscribers (x4)</a:t>
            </a:r>
          </a:p>
          <a:p>
            <a:pPr>
              <a:spcBef>
                <a:spcPct val="50000"/>
              </a:spcBef>
            </a:pPr>
            <a:r>
              <a:rPr lang="en-US" sz="1800" dirty="0"/>
              <a:t>receive 10 million ratings a day</a:t>
            </a:r>
          </a:p>
          <a:p>
            <a:pPr>
              <a:spcBef>
                <a:spcPct val="50000"/>
              </a:spcBef>
            </a:pPr>
            <a:r>
              <a:rPr lang="en-US" sz="1800" dirty="0"/>
              <a:t>generate 5 billion predictions per day</a:t>
            </a:r>
          </a:p>
          <a:p>
            <a:pPr>
              <a:spcBef>
                <a:spcPct val="50000"/>
              </a:spcBef>
            </a:pPr>
            <a:r>
              <a:rPr lang="en-US" sz="1800" dirty="0"/>
              <a:t>Movies distributed via Internet</a:t>
            </a:r>
          </a:p>
          <a:p>
            <a:pPr>
              <a:spcBef>
                <a:spcPct val="50000"/>
              </a:spcBef>
            </a:pPr>
            <a:r>
              <a:rPr lang="en-US" sz="1800" dirty="0"/>
              <a:t>Accuracy of predictions is crucial for maintaining competitive advantage!</a:t>
            </a:r>
            <a:endParaRPr lang="en-US" sz="1800" dirty="0">
              <a:sym typeface="Wingdings" pitchFamily="2" charset="2"/>
            </a:endParaRPr>
          </a:p>
          <a:p>
            <a:pPr>
              <a:spcBef>
                <a:spcPct val="50000"/>
              </a:spcBef>
              <a:buFontTx/>
              <a:buNone/>
            </a:pPr>
            <a:r>
              <a:rPr lang="en-US" sz="1800" dirty="0">
                <a:solidFill>
                  <a:schemeClr val="accent2"/>
                </a:solidFill>
                <a:sym typeface="Wingdings" pitchFamily="2" charset="2"/>
              </a:rPr>
              <a:t>		</a:t>
            </a:r>
            <a:r>
              <a:rPr lang="en-US" sz="1800" b="1" dirty="0">
                <a:solidFill>
                  <a:schemeClr val="accent2"/>
                </a:solidFill>
                <a:sym typeface="Wingdings" pitchFamily="2" charset="2"/>
              </a:rPr>
              <a:t> Announce a $1.000.000 </a:t>
            </a:r>
            <a:r>
              <a:rPr lang="en-US" sz="1800" b="1" dirty="0">
                <a:solidFill>
                  <a:schemeClr val="accent2"/>
                </a:solidFill>
              </a:rPr>
              <a:t>CHALLENGE</a:t>
            </a:r>
          </a:p>
        </p:txBody>
      </p:sp>
    </p:spTree>
    <p:extLst>
      <p:ext uri="{BB962C8B-B14F-4D97-AF65-F5344CB8AC3E}">
        <p14:creationId xmlns:p14="http://schemas.microsoft.com/office/powerpoint/2010/main" val="398667357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>
            <a:normAutofit/>
          </a:bodyPr>
          <a:lstStyle/>
          <a:p>
            <a:r>
              <a:rPr lang="en-US" sz="3600" dirty="0"/>
              <a:t>The Netflix Challenge</a:t>
            </a:r>
            <a:endParaRPr lang="en-US" sz="6000" b="1" dirty="0"/>
          </a:p>
        </p:txBody>
      </p:sp>
      <p:sp>
        <p:nvSpPr>
          <p:cNvPr id="153604" name="Rectangle 4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ct val="50000"/>
              </a:spcBef>
            </a:pPr>
            <a:r>
              <a:rPr lang="en-US" sz="1800" b="1" dirty="0"/>
              <a:t>$ 1.000.000 Grand Prize</a:t>
            </a:r>
            <a:r>
              <a:rPr lang="en-US" sz="1800" dirty="0"/>
              <a:t> for a data miner who will improve the accuracy of Netflix recommendation system </a:t>
            </a:r>
            <a:r>
              <a:rPr lang="en-US" sz="1800" b="1" dirty="0"/>
              <a:t>by 10%</a:t>
            </a:r>
            <a:endParaRPr lang="en-US" sz="1800" dirty="0"/>
          </a:p>
          <a:p>
            <a:pPr>
              <a:spcBef>
                <a:spcPct val="50000"/>
              </a:spcBef>
            </a:pPr>
            <a:r>
              <a:rPr lang="en-US" sz="1800" b="1" dirty="0"/>
              <a:t>Each year $ 50.000 Progress Prize</a:t>
            </a:r>
            <a:r>
              <a:rPr lang="en-US" sz="1800" dirty="0"/>
              <a:t> </a:t>
            </a:r>
            <a:br>
              <a:rPr lang="en-US" sz="1800" dirty="0"/>
            </a:br>
            <a:r>
              <a:rPr lang="en-US" sz="1800" dirty="0"/>
              <a:t>for yearly best submission (&gt;</a:t>
            </a:r>
            <a:r>
              <a:rPr lang="en-US" sz="1800" b="1" dirty="0"/>
              <a:t> 1% </a:t>
            </a:r>
            <a:r>
              <a:rPr lang="en-US" sz="1800" dirty="0"/>
              <a:t>over last year)</a:t>
            </a:r>
          </a:p>
          <a:p>
            <a:pPr>
              <a:spcBef>
                <a:spcPct val="50000"/>
              </a:spcBef>
            </a:pPr>
            <a:r>
              <a:rPr lang="en-US" sz="1800" dirty="0"/>
              <a:t>Started in October 2006</a:t>
            </a:r>
          </a:p>
          <a:p>
            <a:pPr>
              <a:spcBef>
                <a:spcPct val="50000"/>
              </a:spcBef>
            </a:pPr>
            <a:r>
              <a:rPr lang="en-US" sz="1800" dirty="0"/>
              <a:t>To be finished in or before October 2011</a:t>
            </a:r>
          </a:p>
        </p:txBody>
      </p:sp>
    </p:spTree>
    <p:extLst>
      <p:ext uri="{BB962C8B-B14F-4D97-AF65-F5344CB8AC3E}">
        <p14:creationId xmlns:p14="http://schemas.microsoft.com/office/powerpoint/2010/main" val="97490352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354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>
            <a:normAutofit/>
          </a:bodyPr>
          <a:lstStyle/>
          <a:p>
            <a:r>
              <a:rPr lang="en-US" sz="3600" dirty="0"/>
              <a:t>The Netflix Challenge </a:t>
            </a:r>
            <a:endParaRPr lang="en-US" sz="6000" b="1" dirty="0"/>
          </a:p>
        </p:txBody>
      </p:sp>
      <p:sp>
        <p:nvSpPr>
          <p:cNvPr id="228356" name="Rectangle 4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ct val="50000"/>
              </a:spcBef>
            </a:pPr>
            <a:r>
              <a:rPr lang="en-US" sz="1800" b="1" dirty="0"/>
              <a:t>100.000.000</a:t>
            </a:r>
            <a:r>
              <a:rPr lang="en-US" sz="1800" dirty="0"/>
              <a:t> rating records collected over 1997-2005</a:t>
            </a:r>
          </a:p>
          <a:p>
            <a:pPr>
              <a:spcBef>
                <a:spcPct val="50000"/>
              </a:spcBef>
            </a:pPr>
            <a:r>
              <a:rPr lang="en-US" sz="1800" dirty="0"/>
              <a:t>rating record:</a:t>
            </a:r>
            <a:br>
              <a:rPr lang="en-US" sz="1800" dirty="0"/>
            </a:br>
            <a:r>
              <a:rPr lang="en-US" sz="1800" dirty="0"/>
              <a:t>	&lt;</a:t>
            </a:r>
            <a:r>
              <a:rPr lang="en-US" sz="1800" dirty="0" err="1"/>
              <a:t>customer_id</a:t>
            </a:r>
            <a:r>
              <a:rPr lang="en-US" sz="1800" dirty="0"/>
              <a:t>, </a:t>
            </a:r>
            <a:r>
              <a:rPr lang="en-US" sz="1800" dirty="0" err="1"/>
              <a:t>movie_id</a:t>
            </a:r>
            <a:r>
              <a:rPr lang="en-US" sz="1800" dirty="0"/>
              <a:t>, date, rating&gt;</a:t>
            </a:r>
          </a:p>
          <a:p>
            <a:pPr>
              <a:spcBef>
                <a:spcPct val="50000"/>
              </a:spcBef>
            </a:pPr>
            <a:r>
              <a:rPr lang="en-US" sz="1800" b="1" dirty="0"/>
              <a:t>500.000 </a:t>
            </a:r>
            <a:r>
              <a:rPr lang="en-US" sz="1800" dirty="0"/>
              <a:t>customers</a:t>
            </a:r>
          </a:p>
          <a:p>
            <a:pPr>
              <a:spcBef>
                <a:spcPct val="50000"/>
              </a:spcBef>
            </a:pPr>
            <a:r>
              <a:rPr lang="en-US" sz="1800" b="1" dirty="0"/>
              <a:t>18.000 </a:t>
            </a:r>
            <a:r>
              <a:rPr lang="en-US" sz="1800" dirty="0"/>
              <a:t>movies</a:t>
            </a:r>
          </a:p>
          <a:p>
            <a:pPr>
              <a:spcBef>
                <a:spcPct val="50000"/>
              </a:spcBef>
            </a:pPr>
            <a:r>
              <a:rPr lang="en-US" sz="1800" dirty="0"/>
              <a:t>rating = an integer: 1, 2, 3, 4 or 5</a:t>
            </a:r>
          </a:p>
          <a:p>
            <a:pPr>
              <a:spcBef>
                <a:spcPct val="50000"/>
              </a:spcBef>
            </a:pPr>
            <a:r>
              <a:rPr lang="en-US" sz="1800" dirty="0"/>
              <a:t>Additionally, 3.000.000 test records:</a:t>
            </a:r>
            <a:br>
              <a:rPr lang="en-US" sz="1800" dirty="0"/>
            </a:br>
            <a:r>
              <a:rPr lang="en-US" sz="1800" dirty="0"/>
              <a:t>	 &lt;</a:t>
            </a:r>
            <a:r>
              <a:rPr lang="en-US" sz="1800" dirty="0" err="1"/>
              <a:t>customer_id</a:t>
            </a:r>
            <a:r>
              <a:rPr lang="en-US" sz="1800" dirty="0"/>
              <a:t>, </a:t>
            </a:r>
            <a:r>
              <a:rPr lang="en-US" sz="1800" dirty="0" err="1"/>
              <a:t>movie_id</a:t>
            </a:r>
            <a:r>
              <a:rPr lang="en-US" sz="1800" dirty="0"/>
              <a:t>, date, ? &gt;</a:t>
            </a:r>
          </a:p>
          <a:p>
            <a:pPr>
              <a:spcBef>
                <a:spcPct val="50000"/>
              </a:spcBef>
            </a:pPr>
            <a:r>
              <a:rPr lang="en-US" sz="1800" dirty="0"/>
              <a:t>Goal: fill in ?’s with numbers, so the error is minimized</a:t>
            </a:r>
          </a:p>
        </p:txBody>
      </p:sp>
    </p:spTree>
    <p:extLst>
      <p:ext uri="{BB962C8B-B14F-4D97-AF65-F5344CB8AC3E}">
        <p14:creationId xmlns:p14="http://schemas.microsoft.com/office/powerpoint/2010/main" val="364001536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602" name="Rectangle 1026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>
            <a:normAutofit/>
          </a:bodyPr>
          <a:lstStyle/>
          <a:p>
            <a:r>
              <a:rPr lang="en-US" sz="3600" dirty="0"/>
              <a:t>Submission Validation</a:t>
            </a:r>
            <a:endParaRPr lang="en-US" sz="4000" dirty="0"/>
          </a:p>
        </p:txBody>
      </p:sp>
      <p:sp>
        <p:nvSpPr>
          <p:cNvPr id="281604" name="Rectangle 1028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ct val="50000"/>
              </a:spcBef>
            </a:pPr>
            <a:r>
              <a:rPr lang="en-US" sz="1800" dirty="0"/>
              <a:t>RMSE (Root Mean Squared Error)</a:t>
            </a:r>
          </a:p>
          <a:p>
            <a:pPr>
              <a:spcBef>
                <a:spcPct val="50000"/>
              </a:spcBef>
            </a:pPr>
            <a:endParaRPr lang="en-US" sz="1800" dirty="0"/>
          </a:p>
          <a:p>
            <a:pPr>
              <a:spcBef>
                <a:spcPct val="50000"/>
              </a:spcBef>
            </a:pPr>
            <a:endParaRPr lang="en-US" sz="1800" dirty="0"/>
          </a:p>
          <a:p>
            <a:pPr>
              <a:spcBef>
                <a:spcPct val="50000"/>
              </a:spcBef>
            </a:pPr>
            <a:r>
              <a:rPr lang="en-US" sz="1800" dirty="0"/>
              <a:t>Naive prediction (average grade of movie): RMSE = 1.0540 (stars)</a:t>
            </a:r>
          </a:p>
          <a:p>
            <a:pPr>
              <a:spcBef>
                <a:spcPct val="50000"/>
              </a:spcBef>
            </a:pPr>
            <a:r>
              <a:rPr lang="en-US" sz="1800" dirty="0"/>
              <a:t>Netflix baseline: RMSE = 0.9514 (</a:t>
            </a:r>
            <a:r>
              <a:rPr lang="en-US" sz="1800" dirty="0" err="1"/>
              <a:t>Cinematch</a:t>
            </a:r>
            <a:r>
              <a:rPr lang="en-US" sz="1800" dirty="0"/>
              <a:t>)</a:t>
            </a:r>
          </a:p>
          <a:p>
            <a:pPr>
              <a:spcBef>
                <a:spcPct val="50000"/>
              </a:spcBef>
            </a:pPr>
            <a:r>
              <a:rPr lang="en-US" sz="1800" dirty="0"/>
              <a:t>1% improvement: RMSE = 0.9419</a:t>
            </a:r>
          </a:p>
          <a:p>
            <a:pPr>
              <a:spcBef>
                <a:spcPct val="50000"/>
              </a:spcBef>
            </a:pPr>
            <a:r>
              <a:rPr lang="en-US" sz="1800" dirty="0"/>
              <a:t>5% improvement: RMSE = 0.9038</a:t>
            </a:r>
          </a:p>
          <a:p>
            <a:pPr>
              <a:spcBef>
                <a:spcPct val="50000"/>
              </a:spcBef>
            </a:pPr>
            <a:r>
              <a:rPr lang="en-US" sz="1800" dirty="0"/>
              <a:t>10% improvement: RMSE = 0.8563</a:t>
            </a:r>
          </a:p>
          <a:p>
            <a:pPr>
              <a:spcBef>
                <a:spcPct val="50000"/>
              </a:spcBef>
            </a:pPr>
            <a:endParaRPr lang="en-US" sz="1800" dirty="0"/>
          </a:p>
        </p:txBody>
      </p:sp>
      <p:graphicFrame>
        <p:nvGraphicFramePr>
          <p:cNvPr id="281605" name="Object 1029"/>
          <p:cNvGraphicFramePr>
            <a:graphicFrameLocks noChangeAspect="1"/>
          </p:cNvGraphicFramePr>
          <p:nvPr/>
        </p:nvGraphicFramePr>
        <p:xfrm>
          <a:off x="2494157" y="1628078"/>
          <a:ext cx="3118624" cy="6881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184120" imgH="482400" progId="Equation.3">
                  <p:embed/>
                </p:oleObj>
              </mc:Choice>
              <mc:Fallback>
                <p:oleObj name="Equation" r:id="rId3" imgW="2184120" imgH="482400" progId="Equation.3">
                  <p:embed/>
                  <p:pic>
                    <p:nvPicPr>
                      <p:cNvPr id="281605" name="Object 10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4157" y="1628078"/>
                        <a:ext cx="3118624" cy="68818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4824309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>
            <a:normAutofit/>
          </a:bodyPr>
          <a:lstStyle/>
          <a:p>
            <a:r>
              <a:rPr lang="en-US" sz="3600" dirty="0"/>
              <a:t>Participation</a:t>
            </a:r>
            <a:endParaRPr lang="en-US" sz="6000" b="1" dirty="0"/>
          </a:p>
        </p:txBody>
      </p:sp>
      <p:sp>
        <p:nvSpPr>
          <p:cNvPr id="151556" name="Rectangle 4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ct val="50000"/>
              </a:spcBef>
            </a:pPr>
            <a:r>
              <a:rPr lang="en-US" sz="1800" dirty="0"/>
              <a:t>45.000+ participants</a:t>
            </a:r>
          </a:p>
          <a:p>
            <a:pPr>
              <a:spcBef>
                <a:spcPct val="50000"/>
              </a:spcBef>
            </a:pPr>
            <a:r>
              <a:rPr lang="en-US" sz="1800" dirty="0"/>
              <a:t>37.000+ teams</a:t>
            </a:r>
          </a:p>
          <a:p>
            <a:pPr>
              <a:spcBef>
                <a:spcPct val="50000"/>
              </a:spcBef>
            </a:pPr>
            <a:r>
              <a:rPr lang="en-US" sz="1800" dirty="0"/>
              <a:t>36.000+ valid submissions from 4200 teams (!)</a:t>
            </a:r>
          </a:p>
          <a:p>
            <a:pPr>
              <a:spcBef>
                <a:spcPct val="50000"/>
              </a:spcBef>
            </a:pPr>
            <a:r>
              <a:rPr lang="en-US" sz="1800" dirty="0"/>
              <a:t>about 50-100 submissions per day</a:t>
            </a:r>
          </a:p>
          <a:p>
            <a:pPr>
              <a:spcBef>
                <a:spcPct val="50000"/>
              </a:spcBef>
            </a:pPr>
            <a:r>
              <a:rPr lang="en-US" sz="1800" dirty="0"/>
              <a:t>World-wide press coverage </a:t>
            </a:r>
          </a:p>
          <a:p>
            <a:pPr>
              <a:spcBef>
                <a:spcPct val="50000"/>
              </a:spcBef>
            </a:pPr>
            <a:r>
              <a:rPr lang="en-US" sz="1800" dirty="0"/>
              <a:t>Netflix Forum</a:t>
            </a:r>
            <a:r>
              <a:rPr lang="en-US" sz="1800"/>
              <a:t>, conferences, workshops, special </a:t>
            </a:r>
            <a:r>
              <a:rPr lang="en-US" sz="1800" dirty="0"/>
              <a:t>i</a:t>
            </a:r>
            <a:r>
              <a:rPr lang="en-US" sz="1800"/>
              <a:t>ssues of journals</a:t>
            </a:r>
            <a:r>
              <a:rPr lang="en-US" sz="1800" dirty="0"/>
              <a:t>, etc.</a:t>
            </a:r>
          </a:p>
          <a:p>
            <a:pPr>
              <a:spcBef>
                <a:spcPct val="50000"/>
              </a:spcBef>
            </a:pPr>
            <a:endParaRPr lang="en-US" sz="1800" dirty="0"/>
          </a:p>
          <a:p>
            <a:pPr lvl="1">
              <a:spcBef>
                <a:spcPct val="50000"/>
              </a:spcBef>
              <a:buNone/>
            </a:pPr>
            <a:r>
              <a:rPr lang="en-US" sz="1800" dirty="0">
                <a:solidFill>
                  <a:srgbClr val="0070C0"/>
                </a:solidFill>
                <a:sym typeface="Wingdings" pitchFamily="2" charset="2"/>
              </a:rPr>
              <a:t> </a:t>
            </a:r>
            <a:r>
              <a:rPr lang="en-US" sz="1800" dirty="0">
                <a:solidFill>
                  <a:srgbClr val="0070C0"/>
                </a:solidFill>
              </a:rPr>
              <a:t>Immense boost of research on Recommender Systems</a:t>
            </a:r>
          </a:p>
        </p:txBody>
      </p:sp>
    </p:spTree>
    <p:extLst>
      <p:ext uri="{BB962C8B-B14F-4D97-AF65-F5344CB8AC3E}">
        <p14:creationId xmlns:p14="http://schemas.microsoft.com/office/powerpoint/2010/main" val="121793380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>
            <a:normAutofit/>
          </a:bodyPr>
          <a:lstStyle/>
          <a:p>
            <a:r>
              <a:rPr lang="en-US" sz="3600" dirty="0"/>
              <a:t>The Winner is …</a:t>
            </a:r>
            <a:endParaRPr lang="en-US" sz="6000" b="1" dirty="0"/>
          </a:p>
        </p:txBody>
      </p:sp>
      <p:sp>
        <p:nvSpPr>
          <p:cNvPr id="158724" name="Rectangle 4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ct val="50000"/>
              </a:spcBef>
            </a:pPr>
            <a:r>
              <a:rPr lang="en-US" sz="1800" b="1" dirty="0"/>
              <a:t>October, 2006: Start of the Competition</a:t>
            </a:r>
          </a:p>
          <a:p>
            <a:pPr>
              <a:spcBef>
                <a:spcPct val="50000"/>
              </a:spcBef>
            </a:pPr>
            <a:r>
              <a:rPr lang="en-US" sz="1800" b="1" dirty="0"/>
              <a:t>After 7 days: </a:t>
            </a:r>
            <a:r>
              <a:rPr lang="en-US" sz="1800" dirty="0"/>
              <a:t>Netflix base-line reached</a:t>
            </a:r>
            <a:br>
              <a:rPr lang="en-US" sz="1800" dirty="0"/>
            </a:br>
            <a:r>
              <a:rPr lang="en-US" sz="1800" dirty="0"/>
              <a:t>(0% improvement)</a:t>
            </a:r>
          </a:p>
          <a:p>
            <a:pPr>
              <a:spcBef>
                <a:spcPct val="50000"/>
              </a:spcBef>
            </a:pPr>
            <a:r>
              <a:rPr lang="en-US" sz="1800" b="1" dirty="0"/>
              <a:t>After 42 days:</a:t>
            </a:r>
            <a:r>
              <a:rPr lang="en-US" sz="1800" dirty="0"/>
              <a:t> 	 5% improvement</a:t>
            </a:r>
          </a:p>
          <a:p>
            <a:pPr>
              <a:spcBef>
                <a:spcPct val="50000"/>
              </a:spcBef>
            </a:pPr>
            <a:r>
              <a:rPr lang="en-US" sz="1800" dirty="0"/>
              <a:t>January 2007: 	 6% improvement</a:t>
            </a:r>
          </a:p>
          <a:p>
            <a:pPr>
              <a:spcBef>
                <a:spcPct val="50000"/>
              </a:spcBef>
            </a:pPr>
            <a:r>
              <a:rPr lang="en-US" sz="1800" dirty="0"/>
              <a:t>May 2007: 	 7% improvement</a:t>
            </a:r>
          </a:p>
          <a:p>
            <a:pPr>
              <a:spcBef>
                <a:spcPct val="50000"/>
              </a:spcBef>
            </a:pPr>
            <a:r>
              <a:rPr lang="en-US" sz="1800" dirty="0"/>
              <a:t>October 2007:	 8.46%  	($50.000 Prize, AT&amp;T Team)</a:t>
            </a:r>
          </a:p>
          <a:p>
            <a:pPr>
              <a:spcBef>
                <a:spcPct val="50000"/>
              </a:spcBef>
            </a:pPr>
            <a:r>
              <a:rPr lang="en-US" sz="1800" dirty="0"/>
              <a:t>October 2008: 	 9.44% 	(AT&amp;T + </a:t>
            </a:r>
            <a:r>
              <a:rPr lang="en-US" sz="1800" dirty="0" err="1"/>
              <a:t>BigChaos</a:t>
            </a:r>
            <a:r>
              <a:rPr lang="en-US" sz="1800" dirty="0"/>
              <a:t>)</a:t>
            </a:r>
          </a:p>
          <a:p>
            <a:pPr>
              <a:spcBef>
                <a:spcPct val="50000"/>
              </a:spcBef>
            </a:pPr>
            <a:r>
              <a:rPr lang="en-US" sz="2100" b="1" dirty="0"/>
              <a:t>July 2009: 	10.06% (several teams of teams) 🎉</a:t>
            </a:r>
          </a:p>
        </p:txBody>
      </p:sp>
    </p:spTree>
    <p:extLst>
      <p:ext uri="{BB962C8B-B14F-4D97-AF65-F5344CB8AC3E}">
        <p14:creationId xmlns:p14="http://schemas.microsoft.com/office/powerpoint/2010/main" val="2664990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>
            <a:normAutofit/>
          </a:bodyPr>
          <a:lstStyle/>
          <a:p>
            <a:r>
              <a:rPr lang="en-US" sz="3600" dirty="0"/>
              <a:t>Matrix </a:t>
            </a:r>
            <a:r>
              <a:rPr lang="en-US" sz="3600" dirty="0" err="1"/>
              <a:t>Factorisation</a:t>
            </a:r>
            <a:endParaRPr lang="en-US" sz="6000" b="1" dirty="0">
              <a:solidFill>
                <a:schemeClr val="tx1"/>
              </a:solidFill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9055D73-C3C5-FFF5-5B29-D9EB522145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89785"/>
            <a:ext cx="7886700" cy="3400748"/>
          </a:xfrm>
        </p:spPr>
        <p:txBody>
          <a:bodyPr>
            <a:normAutofit/>
          </a:bodyPr>
          <a:lstStyle/>
          <a:p>
            <a:pPr eaLnBrk="1" hangingPunct="1">
              <a:spcBef>
                <a:spcPct val="0"/>
              </a:spcBef>
              <a:buFontTx/>
              <a:buChar char="•"/>
            </a:pPr>
            <a:r>
              <a:rPr lang="en-US" sz="1800" dirty="0">
                <a:cs typeface="Arial" pitchFamily="34" charset="0"/>
              </a:rPr>
              <a:t>Look at the data from both perspectives </a:t>
            </a:r>
            <a:br>
              <a:rPr lang="en-US" sz="1800" dirty="0">
                <a:cs typeface="Arial" pitchFamily="34" charset="0"/>
              </a:rPr>
            </a:br>
            <a:r>
              <a:rPr lang="en-US" sz="1800" dirty="0">
                <a:cs typeface="Arial" pitchFamily="34" charset="0"/>
              </a:rPr>
              <a:t>  (users and items) at the same time!</a:t>
            </a:r>
          </a:p>
          <a:p>
            <a:pPr eaLnBrk="1" hangingPunct="1">
              <a:spcBef>
                <a:spcPct val="0"/>
              </a:spcBef>
              <a:buFontTx/>
              <a:buChar char="•"/>
            </a:pPr>
            <a:endParaRPr lang="en-US" sz="1800" dirty="0">
              <a:cs typeface="Arial" pitchFamily="34" charset="0"/>
            </a:endParaRPr>
          </a:p>
          <a:p>
            <a:pPr eaLnBrk="1" hangingPunct="1">
              <a:buFontTx/>
              <a:buChar char="•"/>
            </a:pPr>
            <a:r>
              <a:rPr lang="en-US" sz="1800" dirty="0">
                <a:cs typeface="Arial" pitchFamily="34" charset="0"/>
              </a:rPr>
              <a:t>Assume that each user and each movie can be represented by a fixed-length vector of ‘features’ that characterize them:</a:t>
            </a:r>
            <a:br>
              <a:rPr lang="en-US" sz="1800" dirty="0">
                <a:cs typeface="Arial" pitchFamily="34" charset="0"/>
              </a:rPr>
            </a:br>
            <a:r>
              <a:rPr lang="en-US" sz="1800" b="1" dirty="0">
                <a:solidFill>
                  <a:schemeClr val="accent2"/>
                </a:solidFill>
                <a:cs typeface="Arial" pitchFamily="34" charset="0"/>
              </a:rPr>
              <a:t>     </a:t>
            </a:r>
            <a:r>
              <a:rPr lang="en-US" sz="1800" dirty="0">
                <a:solidFill>
                  <a:schemeClr val="accent2"/>
                </a:solidFill>
                <a:cs typeface="Arial" pitchFamily="34" charset="0"/>
              </a:rPr>
              <a:t>user vector </a:t>
            </a:r>
            <a:r>
              <a:rPr lang="en-US" sz="1800" dirty="0">
                <a:cs typeface="Arial" pitchFamily="34" charset="0"/>
              </a:rPr>
              <a:t>and</a:t>
            </a:r>
            <a:r>
              <a:rPr lang="en-US" sz="1800" dirty="0">
                <a:solidFill>
                  <a:schemeClr val="accent2"/>
                </a:solidFill>
                <a:cs typeface="Arial" pitchFamily="34" charset="0"/>
              </a:rPr>
              <a:t> item vector (e.g., of length 20)</a:t>
            </a:r>
            <a:endParaRPr lang="en-US" sz="1800" dirty="0">
              <a:cs typeface="Arial" pitchFamily="34" charset="0"/>
            </a:endParaRPr>
          </a:p>
          <a:p>
            <a:pPr marL="0" indent="0" eaLnBrk="1" hangingPunct="1">
              <a:spcBef>
                <a:spcPct val="0"/>
              </a:spcBef>
              <a:buNone/>
            </a:pPr>
            <a:r>
              <a:rPr lang="en-US" sz="1800" dirty="0">
                <a:cs typeface="Arial" pitchFamily="34" charset="0"/>
              </a:rPr>
              <a:t>        	u	           v	</a:t>
            </a:r>
          </a:p>
          <a:p>
            <a:pPr eaLnBrk="1" hangingPunct="1">
              <a:spcBef>
                <a:spcPct val="0"/>
              </a:spcBef>
              <a:buFontTx/>
              <a:buChar char="•"/>
            </a:pPr>
            <a:r>
              <a:rPr lang="en-US" sz="1800" dirty="0">
                <a:cs typeface="Arial" pitchFamily="34" charset="0"/>
              </a:rPr>
              <a:t>Assume that each rating can be approximated by a product of corresponding vectors:</a:t>
            </a:r>
          </a:p>
          <a:p>
            <a:pPr marL="0" indent="0" eaLnBrk="1" hangingPunct="1">
              <a:spcBef>
                <a:spcPct val="0"/>
              </a:spcBef>
              <a:buNone/>
            </a:pPr>
            <a:r>
              <a:rPr lang="en-US" sz="1800" dirty="0">
                <a:cs typeface="Arial" pitchFamily="34" charset="0"/>
              </a:rPr>
              <a:t>	 </a:t>
            </a:r>
            <a:r>
              <a:rPr lang="en-US" sz="1800" dirty="0">
                <a:solidFill>
                  <a:schemeClr val="accent2"/>
                </a:solidFill>
                <a:cs typeface="Arial" pitchFamily="34" charset="0"/>
              </a:rPr>
              <a:t>rating=sum(</a:t>
            </a:r>
            <a:r>
              <a:rPr lang="en-US" sz="1800" i="1" dirty="0">
                <a:solidFill>
                  <a:schemeClr val="accent2"/>
                </a:solidFill>
                <a:cs typeface="Arial" pitchFamily="34" charset="0"/>
              </a:rPr>
              <a:t>user vector</a:t>
            </a:r>
            <a:r>
              <a:rPr lang="en-US" sz="1800" dirty="0">
                <a:solidFill>
                  <a:schemeClr val="accent2"/>
                </a:solidFill>
                <a:cs typeface="Arial" pitchFamily="34" charset="0"/>
              </a:rPr>
              <a:t> x </a:t>
            </a:r>
            <a:r>
              <a:rPr lang="en-US" sz="1800" i="1" dirty="0">
                <a:solidFill>
                  <a:schemeClr val="accent2"/>
                </a:solidFill>
                <a:cs typeface="Arial" pitchFamily="34" charset="0"/>
              </a:rPr>
              <a:t>item vector</a:t>
            </a:r>
            <a:r>
              <a:rPr lang="en-US" sz="1800" dirty="0">
                <a:solidFill>
                  <a:schemeClr val="accent2"/>
                </a:solidFill>
                <a:cs typeface="Arial" pitchFamily="34" charset="0"/>
              </a:rPr>
              <a:t>)</a:t>
            </a:r>
          </a:p>
          <a:p>
            <a:pPr marL="0" indent="0" eaLnBrk="1" hangingPunct="1">
              <a:spcBef>
                <a:spcPct val="0"/>
              </a:spcBef>
              <a:buNone/>
            </a:pPr>
            <a:r>
              <a:rPr lang="en-US" sz="1800" b="1" dirty="0">
                <a:solidFill>
                  <a:schemeClr val="accent2"/>
                </a:solidFill>
                <a:cs typeface="Arial" pitchFamily="34" charset="0"/>
              </a:rPr>
              <a:t>			</a:t>
            </a:r>
            <a:r>
              <a:rPr lang="en-US" sz="1800" dirty="0">
                <a:cs typeface="Arial" pitchFamily="34" charset="0"/>
              </a:rPr>
              <a:t>  </a:t>
            </a:r>
            <a:r>
              <a:rPr lang="en-US" sz="1800" dirty="0" err="1">
                <a:cs typeface="Arial" pitchFamily="34" charset="0"/>
              </a:rPr>
              <a:t>u</a:t>
            </a:r>
            <a:r>
              <a:rPr lang="en-US" sz="1800" baseline="30000" dirty="0" err="1">
                <a:cs typeface="Arial" pitchFamily="34" charset="0"/>
              </a:rPr>
              <a:t>T</a:t>
            </a:r>
            <a:r>
              <a:rPr lang="en-US" sz="1800" dirty="0" err="1">
                <a:cs typeface="Arial" pitchFamily="34" charset="0"/>
              </a:rPr>
              <a:t>･v</a:t>
            </a:r>
            <a:endParaRPr lang="en-US" sz="1800" dirty="0">
              <a:cs typeface="Arial" pitchFamily="34" charset="0"/>
            </a:endParaRPr>
          </a:p>
          <a:p>
            <a:pPr eaLnBrk="1" hangingPunct="1">
              <a:buFontTx/>
              <a:buChar char="•"/>
            </a:pPr>
            <a:r>
              <a:rPr lang="en-US" sz="1800" dirty="0">
                <a:cs typeface="Arial" pitchFamily="34" charset="0"/>
              </a:rPr>
              <a:t>Find optimal values of all feature vectors that minimize MSE</a:t>
            </a:r>
            <a:endParaRPr lang="en-US" sz="1800" b="1" dirty="0">
              <a:solidFill>
                <a:schemeClr val="accent2"/>
              </a:solidFill>
              <a:cs typeface="Arial" pitchFamily="34" charset="0"/>
            </a:endParaRPr>
          </a:p>
          <a:p>
            <a:pPr lvl="1"/>
            <a:endParaRPr lang="en-NL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0C143C-E6B1-1433-279D-5240758D09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733" y="5056718"/>
            <a:ext cx="1557867" cy="943166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E645308E-887E-BC61-7587-AFB7568B9D7E}"/>
              </a:ext>
            </a:extLst>
          </p:cNvPr>
          <p:cNvGrpSpPr/>
          <p:nvPr/>
        </p:nvGrpSpPr>
        <p:grpSpPr>
          <a:xfrm>
            <a:off x="6231463" y="5146197"/>
            <a:ext cx="1832182" cy="884162"/>
            <a:chOff x="6231463" y="5273196"/>
            <a:chExt cx="1832182" cy="884162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D19EA51-D8C7-D39B-80B0-08F7EDCF3684}"/>
                </a:ext>
              </a:extLst>
            </p:cNvPr>
            <p:cNvSpPr txBox="1"/>
            <p:nvPr/>
          </p:nvSpPr>
          <p:spPr>
            <a:xfrm>
              <a:off x="6231463" y="5537202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L" dirty="0"/>
                <a:t>=</a:t>
              </a: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6444C0BB-9D35-1A24-B535-061D8458755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588328" y="5273196"/>
              <a:ext cx="1475317" cy="884162"/>
            </a:xfrm>
            <a:prstGeom prst="rect">
              <a:avLst/>
            </a:prstGeom>
          </p:spPr>
        </p:pic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394008D-6ABC-CFFB-37AC-75A23E0A7CAD}"/>
              </a:ext>
            </a:extLst>
          </p:cNvPr>
          <p:cNvGrpSpPr/>
          <p:nvPr/>
        </p:nvGrpSpPr>
        <p:grpSpPr>
          <a:xfrm>
            <a:off x="2760130" y="5044593"/>
            <a:ext cx="3471335" cy="1002768"/>
            <a:chOff x="2760130" y="5171592"/>
            <a:chExt cx="3471335" cy="1002768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FAFCAB88-1141-5D8F-CF01-F2E12F1F6AB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706284" y="5171592"/>
              <a:ext cx="781050" cy="1002768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35ED80F-B3B2-DEBD-DDE9-067BC573ED8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844197" y="5442276"/>
              <a:ext cx="1387268" cy="610189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AE0015F-D2EB-E74F-24DB-78651A637C40}"/>
                </a:ext>
              </a:extLst>
            </p:cNvPr>
            <p:cNvSpPr txBox="1"/>
            <p:nvPr/>
          </p:nvSpPr>
          <p:spPr>
            <a:xfrm>
              <a:off x="4529662" y="5602083"/>
              <a:ext cx="3048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L" sz="1200" dirty="0"/>
                <a:t>⨉</a:t>
              </a:r>
            </a:p>
          </p:txBody>
        </p:sp>
        <p:sp>
          <p:nvSpPr>
            <p:cNvPr id="13" name="Right Arrow 12">
              <a:extLst>
                <a:ext uri="{FF2B5EF4-FFF2-40B4-BE49-F238E27FC236}">
                  <a16:creationId xmlns:a16="http://schemas.microsoft.com/office/drawing/2014/main" id="{7925C0C1-0DE8-0854-25E0-125C7A56D223}"/>
                </a:ext>
              </a:extLst>
            </p:cNvPr>
            <p:cNvSpPr/>
            <p:nvPr/>
          </p:nvSpPr>
          <p:spPr>
            <a:xfrm>
              <a:off x="2904067" y="5602083"/>
              <a:ext cx="635000" cy="197584"/>
            </a:xfrm>
            <a:prstGeom prst="rightArrow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4831C1C-313F-8084-CFDF-FCAEDE2915A4}"/>
                </a:ext>
              </a:extLst>
            </p:cNvPr>
            <p:cNvSpPr txBox="1"/>
            <p:nvPr/>
          </p:nvSpPr>
          <p:spPr>
            <a:xfrm>
              <a:off x="2760130" y="5796465"/>
              <a:ext cx="90441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L" sz="1050" dirty="0"/>
                <a:t>factorisation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C965B4C-28E9-3D3E-1C7E-C34FFABBEF91}"/>
              </a:ext>
            </a:extLst>
          </p:cNvPr>
          <p:cNvGrpSpPr/>
          <p:nvPr/>
        </p:nvGrpSpPr>
        <p:grpSpPr>
          <a:xfrm>
            <a:off x="2035853" y="1548911"/>
            <a:ext cx="5805662" cy="5068563"/>
            <a:chOff x="2035853" y="1675910"/>
            <a:chExt cx="5805662" cy="5068563"/>
          </a:xfrm>
        </p:grpSpPr>
        <p:sp>
          <p:nvSpPr>
            <p:cNvPr id="17" name="Arc 16">
              <a:extLst>
                <a:ext uri="{FF2B5EF4-FFF2-40B4-BE49-F238E27FC236}">
                  <a16:creationId xmlns:a16="http://schemas.microsoft.com/office/drawing/2014/main" id="{C955CD6B-BA99-3E23-AD76-23ACA2A25DBB}"/>
                </a:ext>
              </a:extLst>
            </p:cNvPr>
            <p:cNvSpPr/>
            <p:nvPr/>
          </p:nvSpPr>
          <p:spPr>
            <a:xfrm rot="8488669">
              <a:off x="2035853" y="1675910"/>
              <a:ext cx="5805662" cy="4965841"/>
            </a:xfrm>
            <a:prstGeom prst="arc">
              <a:avLst/>
            </a:prstGeom>
            <a:ln w="38100"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B18C8FA-7996-55DF-CC04-CF6C895D059A}"/>
                </a:ext>
              </a:extLst>
            </p:cNvPr>
            <p:cNvSpPr txBox="1"/>
            <p:nvPr/>
          </p:nvSpPr>
          <p:spPr>
            <a:xfrm>
              <a:off x="3742263" y="6467474"/>
              <a:ext cx="168238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L" sz="1200" dirty="0"/>
                <a:t>compute squared errror</a:t>
              </a:r>
            </a:p>
          </p:txBody>
        </p:sp>
      </p:grpSp>
      <p:sp>
        <p:nvSpPr>
          <p:cNvPr id="3" name="Oval 2">
            <a:extLst>
              <a:ext uri="{FF2B5EF4-FFF2-40B4-BE49-F238E27FC236}">
                <a16:creationId xmlns:a16="http://schemas.microsoft.com/office/drawing/2014/main" id="{9347C741-982A-A4E3-171D-2936E6DC7860}"/>
              </a:ext>
            </a:extLst>
          </p:cNvPr>
          <p:cNvSpPr/>
          <p:nvPr/>
        </p:nvSpPr>
        <p:spPr>
          <a:xfrm>
            <a:off x="6999193" y="5593976"/>
            <a:ext cx="242047" cy="147918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938C54B-F3BE-21A8-5E36-C7B5ACF52ED2}"/>
              </a:ext>
            </a:extLst>
          </p:cNvPr>
          <p:cNvSpPr/>
          <p:nvPr/>
        </p:nvSpPr>
        <p:spPr>
          <a:xfrm>
            <a:off x="7830669" y="5894294"/>
            <a:ext cx="242047" cy="147918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7" name="Rounded Rectangular Callout 6">
            <a:extLst>
              <a:ext uri="{FF2B5EF4-FFF2-40B4-BE49-F238E27FC236}">
                <a16:creationId xmlns:a16="http://schemas.microsoft.com/office/drawing/2014/main" id="{71C7EA9F-4974-964C-E31A-B537DF7DC997}"/>
              </a:ext>
            </a:extLst>
          </p:cNvPr>
          <p:cNvSpPr/>
          <p:nvPr/>
        </p:nvSpPr>
        <p:spPr>
          <a:xfrm>
            <a:off x="4006448" y="3946713"/>
            <a:ext cx="2885966" cy="884162"/>
          </a:xfrm>
          <a:prstGeom prst="wedgeRoundRectCallout">
            <a:avLst>
              <a:gd name="adj1" fmla="val -42671"/>
              <a:gd name="adj2" fmla="val 83292"/>
              <a:gd name="adj3" fmla="val 16667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GB" sz="1200" dirty="0"/>
              <a:t>d1: “prefers romantic comedies vs action”</a:t>
            </a:r>
          </a:p>
          <a:p>
            <a:r>
              <a:rPr lang="en-GB" sz="1200" dirty="0"/>
              <a:t>d2: “tendency toward niche indie vs blockbuster mainstream”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7" grpId="0" animBg="1"/>
      <p:bldP spid="7" grpId="1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938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>
            <a:normAutofit/>
          </a:bodyPr>
          <a:lstStyle/>
          <a:p>
            <a:r>
              <a:rPr lang="en-US" sz="3600" dirty="0"/>
              <a:t>Minimize Error Function</a:t>
            </a:r>
            <a:endParaRPr lang="en-US" sz="4000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0DC7C04-7E52-98B0-1B60-E3803506B0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buFontTx/>
              <a:buChar char="•"/>
            </a:pPr>
            <a:r>
              <a:rPr lang="en-US" sz="16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1800" dirty="0">
                <a:latin typeface="Arial" pitchFamily="34" charset="0"/>
                <a:cs typeface="Arial" pitchFamily="34" charset="0"/>
              </a:rPr>
              <a:t>Error function is a polynomial of many (50 million?) unknowns:</a:t>
            </a:r>
            <a:endParaRPr lang="en-US" sz="1600" dirty="0">
              <a:latin typeface="Arial" pitchFamily="34" charset="0"/>
              <a:cs typeface="Arial" pitchFamily="34" charset="0"/>
            </a:endParaRPr>
          </a:p>
          <a:p>
            <a:pPr marL="0" indent="0" eaLnBrk="1" hangingPunct="1">
              <a:buNone/>
            </a:pPr>
            <a:b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16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i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</a:t>
            </a:r>
            <a:r>
              <a:rPr lang="en-US" sz="18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(u</a:t>
            </a:r>
            <a:r>
              <a:rPr lang="en-US" sz="1800" baseline="-25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sz="18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…, u</a:t>
            </a:r>
            <a:r>
              <a:rPr lang="en-US" sz="1800" baseline="-25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</a:t>
            </a:r>
            <a:r>
              <a:rPr lang="en-US" sz="18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v</a:t>
            </a:r>
            <a:r>
              <a:rPr lang="en-US" sz="1800" baseline="-25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sz="18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…, </a:t>
            </a:r>
            <a:r>
              <a:rPr lang="en-US" sz="1800" dirty="0" err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</a:t>
            </a:r>
            <a:r>
              <a:rPr lang="en-US" sz="1800" baseline="-25000" dirty="0" err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</a:t>
            </a:r>
            <a:r>
              <a:rPr lang="en-US" sz="16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 = sum((</a:t>
            </a:r>
            <a:r>
              <a:rPr lang="en-US" sz="1600" dirty="0" err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en-US" sz="1600" baseline="-25000" dirty="0" err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ij</a:t>
            </a:r>
            <a:r>
              <a:rPr lang="en-US" sz="1600" baseline="-25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lang="en-US" sz="1600" dirty="0" err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</a:t>
            </a:r>
            <a:r>
              <a:rPr lang="en-US" sz="1600" baseline="-25000" dirty="0" err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sz="1600" dirty="0" err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</a:t>
            </a:r>
            <a:r>
              <a:rPr lang="en-US" sz="1600" baseline="-25000" dirty="0" err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</a:t>
            </a:r>
            <a:r>
              <a:rPr lang="en-US" sz="1600" baseline="30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'</a:t>
            </a:r>
            <a:r>
              <a:rPr lang="en-US" sz="16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en-US" sz="1600" baseline="30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sz="16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eaLnBrk="1" hangingPunct="1"/>
            <a:endParaRPr lang="en-US" sz="1600" dirty="0">
              <a:latin typeface="Arial" pitchFamily="34" charset="0"/>
              <a:cs typeface="Arial" pitchFamily="34" charset="0"/>
            </a:endParaRPr>
          </a:p>
          <a:p>
            <a:pPr eaLnBrk="1" hangingPunct="1">
              <a:spcBef>
                <a:spcPct val="0"/>
              </a:spcBef>
              <a:buFontTx/>
              <a:buChar char="•"/>
            </a:pPr>
            <a:r>
              <a:rPr lang="en-US" sz="16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1800" dirty="0">
                <a:latin typeface="Arial" pitchFamily="34" charset="0"/>
                <a:cs typeface="Arial" pitchFamily="34" charset="0"/>
              </a:rPr>
              <a:t>Find a minimum of this function with help of any optimization method</a:t>
            </a:r>
          </a:p>
          <a:p>
            <a:pPr lvl="1" eaLnBrk="1" hangingPunct="1">
              <a:buFontTx/>
              <a:buChar char="•"/>
            </a:pPr>
            <a:r>
              <a:rPr lang="en-US" sz="1600" dirty="0">
                <a:latin typeface="Arial" pitchFamily="34" charset="0"/>
                <a:cs typeface="Arial" pitchFamily="34" charset="0"/>
              </a:rPr>
              <a:t>simple line search</a:t>
            </a:r>
          </a:p>
          <a:p>
            <a:pPr lvl="1" eaLnBrk="1" hangingPunct="1">
              <a:buFontTx/>
              <a:buChar char="•"/>
            </a:pPr>
            <a:r>
              <a:rPr lang="en-US" sz="1600" dirty="0">
                <a:latin typeface="Arial" pitchFamily="34" charset="0"/>
                <a:cs typeface="Arial" pitchFamily="34" charset="0"/>
              </a:rPr>
              <a:t>Gradient Descent</a:t>
            </a:r>
          </a:p>
          <a:p>
            <a:pPr lvl="1" eaLnBrk="1" hangingPunct="1">
              <a:buFontTx/>
              <a:buChar char="•"/>
            </a:pPr>
            <a:r>
              <a:rPr lang="en-US" sz="1600" dirty="0">
                <a:latin typeface="Arial" pitchFamily="34" charset="0"/>
                <a:cs typeface="Arial" pitchFamily="34" charset="0"/>
              </a:rPr>
              <a:t>Alternating Least Squares</a:t>
            </a:r>
          </a:p>
          <a:p>
            <a:pPr eaLnBrk="1" hangingPunct="1">
              <a:spcBef>
                <a:spcPct val="0"/>
              </a:spcBef>
            </a:pPr>
            <a:endParaRPr lang="en-US" sz="1600" dirty="0">
              <a:latin typeface="Arial" pitchFamily="34" charset="0"/>
              <a:cs typeface="Arial" pitchFamily="34" charset="0"/>
            </a:endParaRPr>
          </a:p>
          <a:p>
            <a:endParaRPr lang="en-NL" sz="18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938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>
            <a:normAutofit fontScale="90000"/>
          </a:bodyPr>
          <a:lstStyle/>
          <a:p>
            <a:r>
              <a:rPr lang="en-US" sz="3600" dirty="0"/>
              <a:t>Simple Line Search</a:t>
            </a:r>
            <a:br>
              <a:rPr lang="en-US" sz="3600" dirty="0"/>
            </a:br>
            <a:r>
              <a:rPr lang="en-US" sz="2200" dirty="0"/>
              <a:t>(Chapter 9 of the MMDS book)</a:t>
            </a:r>
            <a:endParaRPr lang="en-US" sz="4000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E4BB79F-9C1A-AEAA-431B-1616526CD7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85763" indent="-385763">
              <a:buAutoNum type="arabicPeriod"/>
            </a:pPr>
            <a:r>
              <a:rPr lang="en-US" sz="1800" dirty="0">
                <a:cs typeface="Arial" pitchFamily="34" charset="0"/>
              </a:rPr>
              <a:t>Initialize all variables at random</a:t>
            </a:r>
          </a:p>
          <a:p>
            <a:pPr marL="385763" indent="-385763">
              <a:buAutoNum type="arabicPeriod"/>
            </a:pPr>
            <a:r>
              <a:rPr lang="en-US" sz="1800" dirty="0">
                <a:cs typeface="Arial" pitchFamily="34" charset="0"/>
              </a:rPr>
              <a:t>Continue till convergence:</a:t>
            </a:r>
          </a:p>
          <a:p>
            <a:pPr marL="457200" lvl="1" indent="0" eaLnBrk="1" hangingPunct="1">
              <a:buNone/>
            </a:pPr>
            <a:r>
              <a:rPr lang="en-US" sz="1600" dirty="0">
                <a:solidFill>
                  <a:srgbClr val="0070C0"/>
                </a:solidFill>
                <a:cs typeface="Arial" pitchFamily="34" charset="0"/>
              </a:rPr>
              <a:t>choose one random parameter</a:t>
            </a:r>
          </a:p>
          <a:p>
            <a:pPr marL="457200" lvl="1" indent="0" eaLnBrk="1" hangingPunct="1">
              <a:buNone/>
            </a:pPr>
            <a:r>
              <a:rPr lang="en-US" sz="1600" dirty="0">
                <a:solidFill>
                  <a:srgbClr val="0070C0"/>
                </a:solidFill>
                <a:cs typeface="Arial" pitchFamily="34" charset="0"/>
              </a:rPr>
              <a:t>freeze all other parameters</a:t>
            </a:r>
          </a:p>
          <a:p>
            <a:pPr marL="457200" lvl="1" indent="0" eaLnBrk="1" hangingPunct="1">
              <a:buNone/>
            </a:pPr>
            <a:r>
              <a:rPr lang="en-US" sz="1600" dirty="0">
                <a:solidFill>
                  <a:srgbClr val="0070C0"/>
                </a:solidFill>
                <a:cs typeface="Arial" pitchFamily="34" charset="0"/>
              </a:rPr>
              <a:t>then </a:t>
            </a:r>
            <a:r>
              <a:rPr lang="en-US" sz="1600" i="1" dirty="0">
                <a:solidFill>
                  <a:srgbClr val="0070C0"/>
                </a:solidFill>
                <a:cs typeface="Arial" pitchFamily="34" charset="0"/>
              </a:rPr>
              <a:t>f</a:t>
            </a:r>
            <a:r>
              <a:rPr lang="en-US" sz="1600" dirty="0">
                <a:solidFill>
                  <a:srgbClr val="0070C0"/>
                </a:solidFill>
                <a:cs typeface="Arial" pitchFamily="34" charset="0"/>
              </a:rPr>
              <a:t>(…, </a:t>
            </a:r>
            <a:r>
              <a:rPr lang="en-US" sz="1600" i="1" dirty="0">
                <a:solidFill>
                  <a:srgbClr val="0070C0"/>
                </a:solidFill>
                <a:cs typeface="Arial" pitchFamily="34" charset="0"/>
              </a:rPr>
              <a:t>x</a:t>
            </a:r>
            <a:r>
              <a:rPr lang="en-US" sz="1600" dirty="0">
                <a:solidFill>
                  <a:srgbClr val="0070C0"/>
                </a:solidFill>
                <a:cs typeface="Arial" pitchFamily="34" charset="0"/>
              </a:rPr>
              <a:t>, …) is a function of one variable</a:t>
            </a:r>
          </a:p>
          <a:p>
            <a:pPr marL="457200" lvl="1" indent="0" eaLnBrk="1" hangingPunct="1">
              <a:buNone/>
            </a:pPr>
            <a:r>
              <a:rPr lang="en-US" sz="1600" dirty="0">
                <a:solidFill>
                  <a:srgbClr val="0070C0"/>
                </a:solidFill>
                <a:cs typeface="Arial" pitchFamily="34" charset="0"/>
              </a:rPr>
              <a:t>actually, </a:t>
            </a:r>
            <a:r>
              <a:rPr lang="en-US" sz="1600" i="1" dirty="0">
                <a:solidFill>
                  <a:srgbClr val="0070C0"/>
                </a:solidFill>
                <a:cs typeface="Arial" pitchFamily="34" charset="0"/>
              </a:rPr>
              <a:t>f</a:t>
            </a:r>
            <a:r>
              <a:rPr lang="en-US" sz="1600" dirty="0">
                <a:solidFill>
                  <a:srgbClr val="0070C0"/>
                </a:solidFill>
                <a:cs typeface="Arial" pitchFamily="34" charset="0"/>
              </a:rPr>
              <a:t>(…, </a:t>
            </a:r>
            <a:r>
              <a:rPr lang="en-US" sz="1600" i="1" dirty="0">
                <a:solidFill>
                  <a:srgbClr val="0070C0"/>
                </a:solidFill>
                <a:cs typeface="Arial" pitchFamily="34" charset="0"/>
              </a:rPr>
              <a:t>x</a:t>
            </a:r>
            <a:r>
              <a:rPr lang="en-US" sz="1600" dirty="0">
                <a:solidFill>
                  <a:srgbClr val="0070C0"/>
                </a:solidFill>
                <a:cs typeface="Arial" pitchFamily="34" charset="0"/>
              </a:rPr>
              <a:t>, …) is a </a:t>
            </a:r>
            <a:r>
              <a:rPr lang="en-US" sz="1600" u="sng" dirty="0">
                <a:solidFill>
                  <a:srgbClr val="0070C0"/>
                </a:solidFill>
                <a:cs typeface="Arial" pitchFamily="34" charset="0"/>
              </a:rPr>
              <a:t>quadratic</a:t>
            </a:r>
            <a:r>
              <a:rPr lang="en-US" sz="1600" dirty="0">
                <a:solidFill>
                  <a:srgbClr val="0070C0"/>
                </a:solidFill>
                <a:cs typeface="Arial" pitchFamily="34" charset="0"/>
              </a:rPr>
              <a:t> function of </a:t>
            </a:r>
            <a:r>
              <a:rPr lang="en-US" sz="1600" i="1" dirty="0">
                <a:solidFill>
                  <a:srgbClr val="0070C0"/>
                </a:solidFill>
                <a:cs typeface="Arial" pitchFamily="34" charset="0"/>
              </a:rPr>
              <a:t>x</a:t>
            </a:r>
            <a:endParaRPr lang="en-US" sz="1600" dirty="0">
              <a:solidFill>
                <a:srgbClr val="0070C0"/>
              </a:solidFill>
              <a:cs typeface="Arial" pitchFamily="34" charset="0"/>
            </a:endParaRPr>
          </a:p>
          <a:p>
            <a:pPr marL="457200" lvl="1" indent="0" eaLnBrk="1" hangingPunct="1">
              <a:buNone/>
            </a:pPr>
            <a:r>
              <a:rPr lang="en-US" sz="1600" dirty="0">
                <a:solidFill>
                  <a:srgbClr val="0070C0"/>
                </a:solidFill>
                <a:cs typeface="Arial" pitchFamily="34" charset="0"/>
              </a:rPr>
              <a:t>find the optimal value for </a:t>
            </a:r>
            <a:r>
              <a:rPr lang="en-US" sz="1600" i="1" dirty="0">
                <a:solidFill>
                  <a:srgbClr val="0070C0"/>
                </a:solidFill>
                <a:cs typeface="Arial" pitchFamily="34" charset="0"/>
              </a:rPr>
              <a:t>x</a:t>
            </a:r>
          </a:p>
          <a:p>
            <a:pPr marL="457200" lvl="1" indent="0" eaLnBrk="1" hangingPunct="1">
              <a:buNone/>
            </a:pPr>
            <a:r>
              <a:rPr lang="en-US" sz="1600" dirty="0">
                <a:solidFill>
                  <a:srgbClr val="0070C0"/>
                </a:solidFill>
                <a:cs typeface="Arial" pitchFamily="34" charset="0"/>
              </a:rPr>
              <a:t>repeat</a:t>
            </a:r>
          </a:p>
          <a:p>
            <a:pPr lvl="1" eaLnBrk="1" hangingPunct="1">
              <a:buFontTx/>
              <a:buChar char="•"/>
            </a:pPr>
            <a:endParaRPr lang="en-US" sz="1600" dirty="0">
              <a:cs typeface="Arial" pitchFamily="34" charset="0"/>
            </a:endParaRPr>
          </a:p>
          <a:p>
            <a:endParaRPr lang="en-NL" sz="2800" dirty="0"/>
          </a:p>
        </p:txBody>
      </p:sp>
      <p:pic>
        <p:nvPicPr>
          <p:cNvPr id="1026" name="Picture 2" descr="Polynomials and derivative. Quadratic functions: the vertex is a maximum and the tangent at the vertex is horizontal  | matematicasVisuales">
            <a:extLst>
              <a:ext uri="{FF2B5EF4-FFF2-40B4-BE49-F238E27FC236}">
                <a16:creationId xmlns:a16="http://schemas.microsoft.com/office/drawing/2014/main" id="{0A656D6E-DFDC-AFA5-ACC4-34743711A87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655" b="14317"/>
          <a:stretch/>
        </p:blipFill>
        <p:spPr bwMode="auto">
          <a:xfrm>
            <a:off x="4945486" y="3694031"/>
            <a:ext cx="3969555" cy="2938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94875FE-16F2-D81A-FB3B-A106EA81452D}"/>
              </a:ext>
            </a:extLst>
          </p:cNvPr>
          <p:cNvCxnSpPr/>
          <p:nvPr/>
        </p:nvCxnSpPr>
        <p:spPr>
          <a:xfrm>
            <a:off x="4955241" y="5452783"/>
            <a:ext cx="3966883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8837F41-F8B2-13BF-D940-1CA80134E03D}"/>
              </a:ext>
            </a:extLst>
          </p:cNvPr>
          <p:cNvCxnSpPr>
            <a:cxnSpLocks/>
          </p:cNvCxnSpPr>
          <p:nvPr/>
        </p:nvCxnSpPr>
        <p:spPr>
          <a:xfrm flipV="1">
            <a:off x="6138582" y="3697941"/>
            <a:ext cx="0" cy="291801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975C0B5-0E26-25B9-4DD6-9F5396EBA24C}"/>
              </a:ext>
            </a:extLst>
          </p:cNvPr>
          <p:cNvSpPr txBox="1"/>
          <p:nvPr/>
        </p:nvSpPr>
        <p:spPr>
          <a:xfrm>
            <a:off x="5889809" y="53855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/>
              <a:t>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860C77-41A8-E094-F179-A137EFD61BDD}"/>
              </a:ext>
            </a:extLst>
          </p:cNvPr>
          <p:cNvSpPr txBox="1"/>
          <p:nvPr/>
        </p:nvSpPr>
        <p:spPr>
          <a:xfrm>
            <a:off x="7772400" y="4585443"/>
            <a:ext cx="255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i="1" dirty="0"/>
              <a:t>f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56DE87-4FB6-5DC8-1480-CCBFEDC70554}"/>
              </a:ext>
            </a:extLst>
          </p:cNvPr>
          <p:cNvSpPr txBox="1"/>
          <p:nvPr/>
        </p:nvSpPr>
        <p:spPr>
          <a:xfrm>
            <a:off x="7454153" y="5618626"/>
            <a:ext cx="3255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i="1" dirty="0"/>
              <a:t>f’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9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vert="horz" wrap="square" lIns="69056" tIns="34529" rIns="69056" bIns="34529" numCol="1" rtlCol="0" anchor="b" anchorCtr="0" compatLnSpc="1">
            <a:prstTxWarp prst="textNoShape">
              <a:avLst/>
            </a:prstTxWarp>
            <a:normAutofit/>
          </a:bodyPr>
          <a:lstStyle/>
          <a:p>
            <a:r>
              <a:rPr lang="en-US" sz="3600" dirty="0"/>
              <a:t>Gradient Descent Algorithm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BF5E371-FDEA-C53D-CF32-07345DDEC9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defTabSz="571500">
              <a:spcBef>
                <a:spcPts val="900"/>
              </a:spcBef>
              <a:buNone/>
            </a:pPr>
            <a:r>
              <a:rPr lang="en-AU" sz="1800" dirty="0"/>
              <a:t>How to find a minimum of a function </a:t>
            </a:r>
            <a:r>
              <a:rPr lang="en-AU" sz="1800" i="1" dirty="0"/>
              <a:t>f</a:t>
            </a:r>
            <a:r>
              <a:rPr lang="en-AU" sz="1800" dirty="0"/>
              <a:t>(</a:t>
            </a:r>
            <a:r>
              <a:rPr lang="en-AU" sz="1800" i="1" dirty="0"/>
              <a:t>x</a:t>
            </a:r>
            <a:r>
              <a:rPr lang="en-AU" sz="1800" dirty="0"/>
              <a:t>, </a:t>
            </a:r>
            <a:r>
              <a:rPr lang="en-AU" sz="1800" i="1" dirty="0"/>
              <a:t>y</a:t>
            </a:r>
            <a:r>
              <a:rPr lang="en-AU" sz="1800" dirty="0"/>
              <a:t>)</a:t>
            </a:r>
            <a:r>
              <a:rPr lang="en-AU" sz="1800" i="1" dirty="0"/>
              <a:t> </a:t>
            </a:r>
            <a:r>
              <a:rPr lang="en-AU" sz="1800" dirty="0"/>
              <a:t>?</a:t>
            </a:r>
          </a:p>
          <a:p>
            <a:pPr marL="457200" indent="-457200" defTabSz="571500">
              <a:buFont typeface="+mj-lt"/>
              <a:buAutoNum type="arabicPeriod"/>
            </a:pPr>
            <a:r>
              <a:rPr lang="en-AU" sz="1800" dirty="0"/>
              <a:t>Start with an arbitrary point (</a:t>
            </a:r>
            <a:r>
              <a:rPr lang="en-AU" sz="1800" i="1" dirty="0"/>
              <a:t>x</a:t>
            </a:r>
            <a:r>
              <a:rPr lang="en-AU" sz="1800" i="1" baseline="-25000" dirty="0"/>
              <a:t>0</a:t>
            </a:r>
            <a:r>
              <a:rPr lang="en-AU" sz="1800" dirty="0"/>
              <a:t>, </a:t>
            </a:r>
            <a:r>
              <a:rPr lang="en-AU" sz="1800" i="1" dirty="0"/>
              <a:t>y</a:t>
            </a:r>
            <a:r>
              <a:rPr lang="en-AU" sz="1800" i="1" baseline="-25000" dirty="0"/>
              <a:t>0</a:t>
            </a:r>
            <a:r>
              <a:rPr lang="en-AU" sz="1800" dirty="0"/>
              <a:t>)</a:t>
            </a:r>
          </a:p>
          <a:p>
            <a:pPr marL="457200" indent="-457200" defTabSz="571500">
              <a:lnSpc>
                <a:spcPct val="120000"/>
              </a:lnSpc>
              <a:spcBef>
                <a:spcPts val="900"/>
              </a:spcBef>
              <a:buFont typeface="+mj-lt"/>
              <a:buAutoNum type="arabicPeriod"/>
            </a:pPr>
            <a:r>
              <a:rPr lang="en-AU" sz="1800" dirty="0"/>
              <a:t>Find a direction in which</a:t>
            </a:r>
            <a:r>
              <a:rPr lang="en-AU" sz="1800" i="1" dirty="0"/>
              <a:t> f </a:t>
            </a:r>
            <a:r>
              <a:rPr lang="en-AU" sz="1800" dirty="0"/>
              <a:t>is decreasing most rapidly:</a:t>
            </a:r>
          </a:p>
          <a:p>
            <a:pPr marL="457200" indent="-457200" defTabSz="571500">
              <a:lnSpc>
                <a:spcPct val="120000"/>
              </a:lnSpc>
              <a:spcBef>
                <a:spcPts val="900"/>
              </a:spcBef>
              <a:buFont typeface="+mj-lt"/>
              <a:buAutoNum type="arabicPeriod"/>
            </a:pPr>
            <a:endParaRPr lang="en-AU" sz="1800" dirty="0"/>
          </a:p>
          <a:p>
            <a:pPr marL="457200" indent="-457200" defTabSz="571500">
              <a:lnSpc>
                <a:spcPct val="120000"/>
              </a:lnSpc>
              <a:spcBef>
                <a:spcPts val="900"/>
              </a:spcBef>
              <a:buFont typeface="+mj-lt"/>
              <a:buAutoNum type="arabicPeriod"/>
            </a:pPr>
            <a:endParaRPr lang="en-AU" sz="1800" dirty="0"/>
          </a:p>
          <a:p>
            <a:pPr marL="457200" indent="-457200" defTabSz="571500">
              <a:lnSpc>
                <a:spcPct val="120000"/>
              </a:lnSpc>
              <a:spcBef>
                <a:spcPts val="900"/>
              </a:spcBef>
              <a:buFont typeface="+mj-lt"/>
              <a:buAutoNum type="arabicPeriod"/>
            </a:pPr>
            <a:r>
              <a:rPr lang="en-AU" sz="1800" dirty="0"/>
              <a:t>Make a small step in this direction:</a:t>
            </a:r>
          </a:p>
          <a:p>
            <a:pPr marL="457200" indent="-457200" defTabSz="571500">
              <a:lnSpc>
                <a:spcPct val="120000"/>
              </a:lnSpc>
              <a:spcBef>
                <a:spcPts val="900"/>
              </a:spcBef>
              <a:buFont typeface="+mj-lt"/>
              <a:buAutoNum type="arabicPeriod"/>
            </a:pPr>
            <a:endParaRPr lang="en-AU" sz="1800" dirty="0"/>
          </a:p>
          <a:p>
            <a:pPr marL="457200" indent="-457200" defTabSz="571500">
              <a:lnSpc>
                <a:spcPct val="120000"/>
              </a:lnSpc>
              <a:spcBef>
                <a:spcPts val="900"/>
              </a:spcBef>
              <a:buFont typeface="+mj-lt"/>
              <a:buAutoNum type="arabicPeriod"/>
            </a:pPr>
            <a:endParaRPr lang="en-AU" sz="1800" dirty="0"/>
          </a:p>
          <a:p>
            <a:pPr marL="457200" indent="-457200" defTabSz="571500">
              <a:lnSpc>
                <a:spcPct val="120000"/>
              </a:lnSpc>
              <a:spcBef>
                <a:spcPts val="900"/>
              </a:spcBef>
              <a:buFont typeface="+mj-lt"/>
              <a:buAutoNum type="arabicPeriod"/>
            </a:pPr>
            <a:r>
              <a:rPr lang="en-AU" sz="1800" dirty="0"/>
              <a:t>Repeat the whole process</a:t>
            </a:r>
            <a:endParaRPr lang="en-AU" sz="3200" b="1" i="1" dirty="0"/>
          </a:p>
          <a:p>
            <a:endParaRPr lang="en-NL" sz="1800" dirty="0"/>
          </a:p>
        </p:txBody>
      </p:sp>
      <p:graphicFrame>
        <p:nvGraphicFramePr>
          <p:cNvPr id="1331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9051271"/>
              </p:ext>
            </p:extLst>
          </p:nvPr>
        </p:nvGraphicFramePr>
        <p:xfrm>
          <a:off x="2644232" y="2576009"/>
          <a:ext cx="2276475" cy="6607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574640" imgH="457200" progId="Equation.3">
                  <p:embed/>
                </p:oleObj>
              </mc:Choice>
              <mc:Fallback>
                <p:oleObj name="Equation" r:id="rId3" imgW="1574640" imgH="457200" progId="Equation.3">
                  <p:embed/>
                  <p:pic>
                    <p:nvPicPr>
                      <p:cNvPr id="1331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4232" y="2576009"/>
                        <a:ext cx="2276475" cy="66079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3756927"/>
              </p:ext>
            </p:extLst>
          </p:nvPr>
        </p:nvGraphicFramePr>
        <p:xfrm>
          <a:off x="2023481" y="3962361"/>
          <a:ext cx="3908822" cy="6607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705040" imgH="457200" progId="Equation.3">
                  <p:embed/>
                </p:oleObj>
              </mc:Choice>
              <mc:Fallback>
                <p:oleObj name="Equation" r:id="rId5" imgW="2705040" imgH="457200" progId="Equation.3">
                  <p:embed/>
                  <p:pic>
                    <p:nvPicPr>
                      <p:cNvPr id="1331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3481" y="3962361"/>
                        <a:ext cx="3908822" cy="66079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advClick="0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6"/>
          <p:cNvGrpSpPr>
            <a:grpSpLocks/>
          </p:cNvGrpSpPr>
          <p:nvPr/>
        </p:nvGrpSpPr>
        <p:grpSpPr bwMode="auto">
          <a:xfrm>
            <a:off x="2057400" y="1885950"/>
            <a:ext cx="4693444" cy="3519488"/>
            <a:chOff x="1680" y="1248"/>
            <a:chExt cx="3942" cy="2956"/>
          </a:xfrm>
        </p:grpSpPr>
        <p:pic>
          <p:nvPicPr>
            <p:cNvPr id="33800" name="Picture 7" descr="error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680" y="1248"/>
              <a:ext cx="3936" cy="29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pSp>
          <p:nvGrpSpPr>
            <p:cNvPr id="4" name="Group 8"/>
            <p:cNvGrpSpPr>
              <a:grpSpLocks/>
            </p:cNvGrpSpPr>
            <p:nvPr/>
          </p:nvGrpSpPr>
          <p:grpSpPr bwMode="auto">
            <a:xfrm>
              <a:off x="3792" y="1536"/>
              <a:ext cx="1142" cy="576"/>
              <a:chOff x="3792" y="1536"/>
              <a:chExt cx="1142" cy="576"/>
            </a:xfrm>
          </p:grpSpPr>
          <p:sp>
            <p:nvSpPr>
              <p:cNvPr id="33806" name="Line 9"/>
              <p:cNvSpPr>
                <a:spLocks noChangeShapeType="1"/>
              </p:cNvSpPr>
              <p:nvPr/>
            </p:nvSpPr>
            <p:spPr bwMode="auto">
              <a:xfrm flipH="1">
                <a:off x="3888" y="1824"/>
                <a:ext cx="336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 type="triangle" w="med" len="med"/>
              </a:ln>
            </p:spPr>
            <p:txBody>
              <a:bodyPr wrap="none"/>
              <a:lstStyle/>
              <a:p>
                <a:endParaRPr lang="en-US" sz="1350"/>
              </a:p>
            </p:txBody>
          </p:sp>
          <p:sp>
            <p:nvSpPr>
              <p:cNvPr id="33807" name="Text Box 10"/>
              <p:cNvSpPr txBox="1">
                <a:spLocks noChangeArrowheads="1"/>
              </p:cNvSpPr>
              <p:nvPr/>
            </p:nvSpPr>
            <p:spPr bwMode="auto">
              <a:xfrm>
                <a:off x="4176" y="1536"/>
                <a:ext cx="758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sv-SE" sz="1350" dirty="0">
                    <a:latin typeface="Tahoma" pitchFamily="34" charset="0"/>
                  </a:rPr>
                  <a:t>E(w</a:t>
                </a:r>
                <a:r>
                  <a:rPr lang="sv-SE" sz="1350" baseline="-25000" dirty="0">
                    <a:latin typeface="Tahoma" pitchFamily="34" charset="0"/>
                  </a:rPr>
                  <a:t>1</a:t>
                </a:r>
                <a:r>
                  <a:rPr lang="sv-SE" sz="1350" dirty="0">
                    <a:latin typeface="Tahoma" pitchFamily="34" charset="0"/>
                  </a:rPr>
                  <a:t>, w</a:t>
                </a:r>
                <a:r>
                  <a:rPr lang="sv-SE" sz="1350" baseline="-25000" dirty="0">
                    <a:latin typeface="Tahoma" pitchFamily="34" charset="0"/>
                  </a:rPr>
                  <a:t>2</a:t>
                </a:r>
                <a:r>
                  <a:rPr lang="sv-SE" sz="1350" dirty="0">
                    <a:latin typeface="Tahoma" pitchFamily="34" charset="0"/>
                  </a:rPr>
                  <a:t>)</a:t>
                </a:r>
                <a:endParaRPr lang="en-US" sz="1350" dirty="0">
                  <a:latin typeface="Tahoma" pitchFamily="34" charset="0"/>
                </a:endParaRPr>
              </a:p>
            </p:txBody>
          </p:sp>
          <p:sp>
            <p:nvSpPr>
              <p:cNvPr id="33808" name="Oval 11"/>
              <p:cNvSpPr>
                <a:spLocks noChangeArrowheads="1"/>
              </p:cNvSpPr>
              <p:nvPr/>
            </p:nvSpPr>
            <p:spPr bwMode="auto">
              <a:xfrm>
                <a:off x="3792" y="2016"/>
                <a:ext cx="96" cy="96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1350"/>
              </a:p>
            </p:txBody>
          </p:sp>
        </p:grpSp>
        <p:grpSp>
          <p:nvGrpSpPr>
            <p:cNvPr id="5" name="Group 12"/>
            <p:cNvGrpSpPr>
              <a:grpSpLocks/>
            </p:cNvGrpSpPr>
            <p:nvPr/>
          </p:nvGrpSpPr>
          <p:grpSpPr bwMode="auto">
            <a:xfrm>
              <a:off x="3690" y="2304"/>
              <a:ext cx="1932" cy="336"/>
              <a:chOff x="3690" y="2304"/>
              <a:chExt cx="1932" cy="336"/>
            </a:xfrm>
          </p:grpSpPr>
          <p:sp>
            <p:nvSpPr>
              <p:cNvPr id="33803" name="Oval 13"/>
              <p:cNvSpPr>
                <a:spLocks noChangeArrowheads="1"/>
              </p:cNvSpPr>
              <p:nvPr/>
            </p:nvSpPr>
            <p:spPr bwMode="auto">
              <a:xfrm>
                <a:off x="3690" y="2544"/>
                <a:ext cx="96" cy="96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1350"/>
              </a:p>
            </p:txBody>
          </p:sp>
          <p:sp>
            <p:nvSpPr>
              <p:cNvPr id="33804" name="Text Box 14"/>
              <p:cNvSpPr txBox="1">
                <a:spLocks noChangeArrowheads="1"/>
              </p:cNvSpPr>
              <p:nvPr/>
            </p:nvSpPr>
            <p:spPr bwMode="auto">
              <a:xfrm>
                <a:off x="4122" y="2304"/>
                <a:ext cx="1500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sv-SE" sz="1350" dirty="0">
                    <a:latin typeface="Tahoma" pitchFamily="34" charset="0"/>
                  </a:rPr>
                  <a:t>E(w</a:t>
                </a:r>
                <a:r>
                  <a:rPr lang="sv-SE" sz="1350" baseline="-25000" dirty="0">
                    <a:latin typeface="Tahoma" pitchFamily="34" charset="0"/>
                  </a:rPr>
                  <a:t>1</a:t>
                </a:r>
                <a:r>
                  <a:rPr lang="sv-SE" sz="1350" dirty="0">
                    <a:latin typeface="Tahoma" pitchFamily="34" charset="0"/>
                  </a:rPr>
                  <a:t>+</a:t>
                </a:r>
                <a:r>
                  <a:rPr lang="sv-SE" sz="1350" dirty="0">
                    <a:latin typeface="Tahoma" pitchFamily="34" charset="0"/>
                    <a:sym typeface="Symbol" pitchFamily="18" charset="2"/>
                  </a:rPr>
                  <a:t>w</a:t>
                </a:r>
                <a:r>
                  <a:rPr lang="sv-SE" sz="1350" baseline="-25000" dirty="0">
                    <a:latin typeface="Tahoma" pitchFamily="34" charset="0"/>
                    <a:sym typeface="Symbol" pitchFamily="18" charset="2"/>
                  </a:rPr>
                  <a:t>1</a:t>
                </a:r>
                <a:r>
                  <a:rPr lang="sv-SE" sz="1350" dirty="0">
                    <a:latin typeface="Tahoma" pitchFamily="34" charset="0"/>
                  </a:rPr>
                  <a:t>, w</a:t>
                </a:r>
                <a:r>
                  <a:rPr lang="sv-SE" sz="1350" baseline="-25000" dirty="0">
                    <a:latin typeface="Tahoma" pitchFamily="34" charset="0"/>
                  </a:rPr>
                  <a:t>2 </a:t>
                </a:r>
                <a:r>
                  <a:rPr lang="sv-SE" sz="1350" dirty="0">
                    <a:latin typeface="Tahoma" pitchFamily="34" charset="0"/>
                  </a:rPr>
                  <a:t>+</a:t>
                </a:r>
                <a:r>
                  <a:rPr lang="sv-SE" sz="1350" dirty="0">
                    <a:latin typeface="Tahoma" pitchFamily="34" charset="0"/>
                    <a:sym typeface="Symbol" pitchFamily="18" charset="2"/>
                  </a:rPr>
                  <a:t>w</a:t>
                </a:r>
                <a:r>
                  <a:rPr lang="sv-SE" sz="1350" baseline="-25000" dirty="0">
                    <a:latin typeface="Tahoma" pitchFamily="34" charset="0"/>
                    <a:sym typeface="Symbol" pitchFamily="18" charset="2"/>
                  </a:rPr>
                  <a:t>2</a:t>
                </a:r>
                <a:r>
                  <a:rPr lang="sv-SE" sz="1350" dirty="0">
                    <a:latin typeface="Tahoma" pitchFamily="34" charset="0"/>
                  </a:rPr>
                  <a:t>)</a:t>
                </a:r>
                <a:endParaRPr lang="en-US" sz="1350" dirty="0">
                  <a:latin typeface="Tahoma" pitchFamily="34" charset="0"/>
                </a:endParaRPr>
              </a:p>
            </p:txBody>
          </p:sp>
          <p:sp>
            <p:nvSpPr>
              <p:cNvPr id="33805" name="Line 15"/>
              <p:cNvSpPr>
                <a:spLocks noChangeShapeType="1"/>
              </p:cNvSpPr>
              <p:nvPr/>
            </p:nvSpPr>
            <p:spPr bwMode="auto">
              <a:xfrm flipH="1">
                <a:off x="3834" y="2400"/>
                <a:ext cx="336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 type="triangle" w="med" len="med"/>
              </a:ln>
            </p:spPr>
            <p:txBody>
              <a:bodyPr wrap="none"/>
              <a:lstStyle/>
              <a:p>
                <a:endParaRPr lang="en-US" sz="1350"/>
              </a:p>
            </p:txBody>
          </p:sp>
        </p:grpSp>
      </p:grpSp>
      <p:sp>
        <p:nvSpPr>
          <p:cNvPr id="337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Gradient </a:t>
            </a:r>
            <a:r>
              <a:rPr lang="sv-SE" dirty="0" err="1"/>
              <a:t>Descent</a:t>
            </a:r>
            <a:endParaRPr lang="sv-SE" dirty="0"/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1783080" y="2343150"/>
            <a:ext cx="2847959" cy="1143000"/>
            <a:chOff x="0" y="1632"/>
            <a:chExt cx="3817" cy="960"/>
          </a:xfrm>
        </p:grpSpPr>
        <p:sp>
          <p:nvSpPr>
            <p:cNvPr id="33809" name="Text Box 4"/>
            <p:cNvSpPr txBox="1">
              <a:spLocks noChangeArrowheads="1"/>
            </p:cNvSpPr>
            <p:nvPr/>
          </p:nvSpPr>
          <p:spPr bwMode="auto">
            <a:xfrm>
              <a:off x="0" y="1632"/>
              <a:ext cx="155" cy="25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endParaRPr lang="en-GB" sz="1350">
                <a:latin typeface="Tahoma" pitchFamily="34" charset="0"/>
                <a:sym typeface="Symbol" pitchFamily="18" charset="2"/>
              </a:endParaRPr>
            </a:p>
          </p:txBody>
        </p:sp>
        <p:sp>
          <p:nvSpPr>
            <p:cNvPr id="33810" name="Line 5"/>
            <p:cNvSpPr>
              <a:spLocks noChangeShapeType="1"/>
            </p:cNvSpPr>
            <p:nvPr/>
          </p:nvSpPr>
          <p:spPr bwMode="auto">
            <a:xfrm flipH="1">
              <a:off x="3648" y="2056"/>
              <a:ext cx="169" cy="536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 type="triangle" w="med" len="med"/>
            </a:ln>
          </p:spPr>
          <p:txBody>
            <a:bodyPr wrap="none"/>
            <a:lstStyle/>
            <a:p>
              <a:endParaRPr lang="en-US" sz="1350"/>
            </a:p>
          </p:txBody>
        </p:sp>
      </p:grp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NL" sz="4000" dirty="0"/>
              <a:t>SGD Matrix Factorisation:</a:t>
            </a:r>
            <a:br>
              <a:rPr lang="en-NL" sz="4000" dirty="0"/>
            </a:br>
            <a:r>
              <a:rPr lang="en-GB" sz="3100" dirty="0"/>
              <a:t>Simon Funk’s Submission</a:t>
            </a:r>
            <a:endParaRPr lang="en-GB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642270-29AD-95C5-2F8A-217F921C16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1800" dirty="0"/>
              <a:t>After 2 months</a:t>
            </a:r>
          </a:p>
          <a:p>
            <a:r>
              <a:rPr lang="en-GB" sz="1800" dirty="0"/>
              <a:t>~5% improvement, top three at the time</a:t>
            </a:r>
          </a:p>
          <a:p>
            <a:r>
              <a:rPr lang="en-GB" sz="1600" dirty="0"/>
              <a:t>https://sifter.org/~simon/journal/20061211.html</a:t>
            </a:r>
            <a:endParaRPr lang="en-NL" sz="16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2646" y="2660084"/>
            <a:ext cx="5358707" cy="4010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06363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8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>
            <a:normAutofit/>
          </a:bodyPr>
          <a:lstStyle/>
          <a:p>
            <a:r>
              <a:rPr lang="en-US" sz="3600" dirty="0"/>
              <a:t>Simon Funk’s Trick</a:t>
            </a:r>
            <a:endParaRPr lang="en-US" sz="4000" dirty="0"/>
          </a:p>
        </p:txBody>
      </p:sp>
      <p:sp>
        <p:nvSpPr>
          <p:cNvPr id="21509" name="Rectangle 4"/>
          <p:cNvSpPr>
            <a:spLocks noGrp="1" noChangeArrowheads="1"/>
          </p:cNvSpPr>
          <p:nvPr>
            <p:ph idx="1"/>
          </p:nvPr>
        </p:nvSpPr>
        <p:spPr>
          <a:xfrm>
            <a:off x="628649" y="1289785"/>
            <a:ext cx="8312983" cy="5380522"/>
          </a:xfrm>
        </p:spPr>
        <p:txBody>
          <a:bodyPr>
            <a:normAutofit/>
          </a:bodyPr>
          <a:lstStyle/>
          <a:p>
            <a:r>
              <a:rPr lang="en-US" sz="1800" dirty="0"/>
              <a:t>Introduce about 50M unknowns (200MB):</a:t>
            </a:r>
            <a:br>
              <a:rPr lang="en-US" sz="1800" dirty="0"/>
            </a:br>
            <a:r>
              <a:rPr lang="en-US" sz="1600" dirty="0"/>
              <a:t>100 unknowns for each user :    </a:t>
            </a:r>
            <a:r>
              <a:rPr lang="en-GB" sz="1400" dirty="0" err="1">
                <a:latin typeface="Courier New" pitchFamily="49" charset="0"/>
                <a:cs typeface="Courier New" pitchFamily="49" charset="0"/>
              </a:rPr>
              <a:t>userFeature</a:t>
            </a:r>
            <a:r>
              <a:rPr lang="en-GB" sz="1400" dirty="0">
                <a:latin typeface="Courier New" pitchFamily="49" charset="0"/>
                <a:cs typeface="Courier New" pitchFamily="49" charset="0"/>
              </a:rPr>
              <a:t>[f][user]</a:t>
            </a:r>
            <a:br>
              <a:rPr lang="en-US" sz="1600" dirty="0"/>
            </a:br>
            <a:r>
              <a:rPr lang="en-US" sz="1600" dirty="0"/>
              <a:t>100 unknowns for each movie:  </a:t>
            </a:r>
            <a:r>
              <a:rPr lang="en-GB" sz="1400" dirty="0" err="1">
                <a:latin typeface="Courier New" pitchFamily="49" charset="0"/>
                <a:cs typeface="Courier New" pitchFamily="49" charset="0"/>
              </a:rPr>
              <a:t>movieFeature</a:t>
            </a:r>
            <a:r>
              <a:rPr lang="en-GB" sz="1400" dirty="0">
                <a:latin typeface="Courier New" pitchFamily="49" charset="0"/>
                <a:cs typeface="Courier New" pitchFamily="49" charset="0"/>
              </a:rPr>
              <a:t>[f][movie]</a:t>
            </a:r>
            <a:endParaRPr lang="en-US" sz="1600" dirty="0"/>
          </a:p>
          <a:p>
            <a:endParaRPr lang="en-US" sz="1400" dirty="0"/>
          </a:p>
          <a:p>
            <a:r>
              <a:rPr lang="en-US" sz="1800" dirty="0"/>
              <a:t>Assume that predictions can be approximated by the dot products of these unknowns:</a:t>
            </a:r>
          </a:p>
          <a:p>
            <a:pPr>
              <a:buFontTx/>
              <a:buNone/>
            </a:pPr>
            <a:r>
              <a:rPr lang="en-US" sz="18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GB" sz="1400" dirty="0" err="1">
                <a:latin typeface="Courier New" pitchFamily="49" charset="0"/>
                <a:cs typeface="Courier New" pitchFamily="49" charset="0"/>
              </a:rPr>
              <a:t>ratingPredicted</a:t>
            </a:r>
            <a:r>
              <a:rPr lang="en-GB" sz="1400" dirty="0">
                <a:latin typeface="Courier New" pitchFamily="49" charset="0"/>
                <a:cs typeface="Courier New" pitchFamily="49" charset="0"/>
              </a:rPr>
              <a:t>[user][movie] = </a:t>
            </a:r>
            <a:br>
              <a:rPr lang="en-GB" sz="1400" dirty="0">
                <a:latin typeface="Courier New" pitchFamily="49" charset="0"/>
                <a:cs typeface="Courier New" pitchFamily="49" charset="0"/>
              </a:rPr>
            </a:br>
            <a:r>
              <a:rPr lang="en-GB" sz="1400" dirty="0">
                <a:latin typeface="Courier New" pitchFamily="49" charset="0"/>
                <a:cs typeface="Courier New" pitchFamily="49" charset="0"/>
              </a:rPr>
              <a:t>   sum(</a:t>
            </a:r>
            <a:r>
              <a:rPr lang="en-GB" sz="1400" dirty="0" err="1">
                <a:latin typeface="Courier New" pitchFamily="49" charset="0"/>
                <a:cs typeface="Courier New" pitchFamily="49" charset="0"/>
              </a:rPr>
              <a:t>userFeature</a:t>
            </a:r>
            <a:r>
              <a:rPr lang="en-GB" sz="1400" dirty="0">
                <a:latin typeface="Courier New" pitchFamily="49" charset="0"/>
                <a:cs typeface="Courier New" pitchFamily="49" charset="0"/>
              </a:rPr>
              <a:t>[f][user] * </a:t>
            </a:r>
            <a:r>
              <a:rPr lang="en-GB" sz="1400" dirty="0" err="1">
                <a:latin typeface="Courier New" pitchFamily="49" charset="0"/>
                <a:cs typeface="Courier New" pitchFamily="49" charset="0"/>
              </a:rPr>
              <a:t>movieFeature</a:t>
            </a:r>
            <a:r>
              <a:rPr lang="en-GB" sz="1400" dirty="0">
                <a:latin typeface="Courier New" pitchFamily="49" charset="0"/>
                <a:cs typeface="Courier New" pitchFamily="49" charset="0"/>
              </a:rPr>
              <a:t>[f][movie])</a:t>
            </a:r>
          </a:p>
          <a:p>
            <a:pPr>
              <a:buFontTx/>
              <a:buNone/>
            </a:pPr>
            <a:endParaRPr lang="en-GB" sz="1200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1800" dirty="0"/>
              <a:t>Define the error (err) as a function of all unknowns:</a:t>
            </a:r>
          </a:p>
          <a:p>
            <a:pPr>
              <a:buFontTx/>
              <a:buNone/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	sum((</a:t>
            </a:r>
            <a:r>
              <a:rPr lang="en-GB" sz="1400" dirty="0" err="1">
                <a:latin typeface="Courier New" pitchFamily="49" charset="0"/>
                <a:cs typeface="Courier New" pitchFamily="49" charset="0"/>
              </a:rPr>
              <a:t>ratingPredicted</a:t>
            </a:r>
            <a:r>
              <a:rPr lang="en-GB" sz="1400" dirty="0">
                <a:latin typeface="Courier New" pitchFamily="49" charset="0"/>
                <a:cs typeface="Courier New" pitchFamily="49" charset="0"/>
              </a:rPr>
              <a:t>[user][movie] - </a:t>
            </a:r>
            <a:r>
              <a:rPr lang="en-GB" sz="1400" dirty="0" err="1">
                <a:latin typeface="Courier New" pitchFamily="49" charset="0"/>
                <a:cs typeface="Courier New" pitchFamily="49" charset="0"/>
              </a:rPr>
              <a:t>ratingTrue</a:t>
            </a:r>
            <a:r>
              <a:rPr lang="en-GB" sz="1400" dirty="0">
                <a:latin typeface="Courier New" pitchFamily="49" charset="0"/>
                <a:cs typeface="Courier New" pitchFamily="49" charset="0"/>
              </a:rPr>
              <a:t>[user][movie])^2) </a:t>
            </a:r>
            <a:br>
              <a:rPr lang="en-US" sz="1400" dirty="0">
                <a:latin typeface="Courier New" pitchFamily="49" charset="0"/>
                <a:cs typeface="Courier New" pitchFamily="49" charset="0"/>
              </a:rPr>
            </a:br>
            <a:endParaRPr lang="en-US" sz="1400" dirty="0"/>
          </a:p>
          <a:p>
            <a:r>
              <a:rPr lang="en-US" sz="1800" dirty="0"/>
              <a:t>Find the minimum with gradient descent delta-rule: 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GB" sz="1400" dirty="0" err="1">
                <a:latin typeface="Courier New" pitchFamily="49" charset="0"/>
                <a:cs typeface="Courier New" pitchFamily="49" charset="0"/>
              </a:rPr>
              <a:t>userValue</a:t>
            </a:r>
            <a:r>
              <a:rPr lang="en-GB" sz="1400" dirty="0">
                <a:latin typeface="Courier New" pitchFamily="49" charset="0"/>
                <a:cs typeface="Courier New" pitchFamily="49" charset="0"/>
              </a:rPr>
              <a:t>[user]   += </a:t>
            </a:r>
            <a:r>
              <a:rPr lang="en-GB" sz="1400" dirty="0" err="1">
                <a:latin typeface="Courier New" pitchFamily="49" charset="0"/>
                <a:cs typeface="Courier New" pitchFamily="49" charset="0"/>
              </a:rPr>
              <a:t>lrate</a:t>
            </a:r>
            <a:r>
              <a:rPr lang="en-GB" sz="1400" dirty="0">
                <a:latin typeface="Courier New" pitchFamily="49" charset="0"/>
                <a:cs typeface="Courier New" pitchFamily="49" charset="0"/>
              </a:rPr>
              <a:t> * err * </a:t>
            </a:r>
            <a:r>
              <a:rPr lang="en-GB" sz="1400" dirty="0" err="1">
                <a:latin typeface="Courier New" pitchFamily="49" charset="0"/>
                <a:cs typeface="Courier New" pitchFamily="49" charset="0"/>
              </a:rPr>
              <a:t>movieValue</a:t>
            </a:r>
            <a:r>
              <a:rPr lang="en-GB" sz="1400" dirty="0">
                <a:latin typeface="Courier New" pitchFamily="49" charset="0"/>
                <a:cs typeface="Courier New" pitchFamily="49" charset="0"/>
              </a:rPr>
              <a:t>[movie]</a:t>
            </a:r>
            <a:br>
              <a:rPr lang="en-US" sz="1400" dirty="0">
                <a:latin typeface="Courier New" pitchFamily="49" charset="0"/>
                <a:cs typeface="Courier New" pitchFamily="49" charset="0"/>
              </a:rPr>
            </a:br>
            <a:r>
              <a:rPr lang="en-GB" sz="1400" dirty="0" err="1">
                <a:latin typeface="Courier New" pitchFamily="49" charset="0"/>
                <a:cs typeface="Courier New" pitchFamily="49" charset="0"/>
              </a:rPr>
              <a:t>movieValue</a:t>
            </a:r>
            <a:r>
              <a:rPr lang="en-GB" sz="1400" dirty="0">
                <a:latin typeface="Courier New" pitchFamily="49" charset="0"/>
                <a:cs typeface="Courier New" pitchFamily="49" charset="0"/>
              </a:rPr>
              <a:t>[movie] += </a:t>
            </a:r>
            <a:r>
              <a:rPr lang="en-GB" sz="1400" dirty="0" err="1">
                <a:latin typeface="Courier New" pitchFamily="49" charset="0"/>
                <a:cs typeface="Courier New" pitchFamily="49" charset="0"/>
              </a:rPr>
              <a:t>lrate</a:t>
            </a:r>
            <a:r>
              <a:rPr lang="en-GB" sz="1400" dirty="0">
                <a:latin typeface="Courier New" pitchFamily="49" charset="0"/>
                <a:cs typeface="Courier New" pitchFamily="49" charset="0"/>
              </a:rPr>
              <a:t> * err * </a:t>
            </a:r>
            <a:r>
              <a:rPr lang="en-GB" sz="1400" dirty="0" err="1">
                <a:latin typeface="Courier New" pitchFamily="49" charset="0"/>
                <a:cs typeface="Courier New" pitchFamily="49" charset="0"/>
              </a:rPr>
              <a:t>userValue</a:t>
            </a:r>
            <a:r>
              <a:rPr lang="en-GB" sz="1400" dirty="0">
                <a:latin typeface="Courier New" pitchFamily="49" charset="0"/>
                <a:cs typeface="Courier New" pitchFamily="49" charset="0"/>
              </a:rPr>
              <a:t>[user]</a:t>
            </a:r>
            <a:r>
              <a:rPr lang="en-GB" sz="1400" dirty="0">
                <a:latin typeface="Courier New" pitchFamily="49" charset="0"/>
              </a:rPr>
              <a:t> </a:t>
            </a:r>
            <a:endParaRPr lang="en-US" sz="1600" dirty="0">
              <a:latin typeface="Courier New" pitchFamily="49" charset="0"/>
            </a:endParaRPr>
          </a:p>
        </p:txBody>
      </p:sp>
      <p:sp>
        <p:nvSpPr>
          <p:cNvPr id="2" name="Rounded Rectangular Callout 1">
            <a:extLst>
              <a:ext uri="{FF2B5EF4-FFF2-40B4-BE49-F238E27FC236}">
                <a16:creationId xmlns:a16="http://schemas.microsoft.com/office/drawing/2014/main" id="{40CAD3AB-127C-1E1B-157D-7F99A1EC5AF4}"/>
              </a:ext>
            </a:extLst>
          </p:cNvPr>
          <p:cNvSpPr/>
          <p:nvPr/>
        </p:nvSpPr>
        <p:spPr>
          <a:xfrm>
            <a:off x="4219267" y="2588343"/>
            <a:ext cx="1283677" cy="518746"/>
          </a:xfrm>
          <a:prstGeom prst="wedgeRoundRectCallout">
            <a:avLst>
              <a:gd name="adj1" fmla="val -46860"/>
              <a:gd name="adj2" fmla="val 72669"/>
              <a:gd name="adj3" fmla="val 16667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NL" sz="1400" dirty="0"/>
              <a:t>dot product of two vectors</a:t>
            </a:r>
          </a:p>
        </p:txBody>
      </p:sp>
      <p:sp>
        <p:nvSpPr>
          <p:cNvPr id="3" name="Rounded Rectangular Callout 2">
            <a:extLst>
              <a:ext uri="{FF2B5EF4-FFF2-40B4-BE49-F238E27FC236}">
                <a16:creationId xmlns:a16="http://schemas.microsoft.com/office/drawing/2014/main" id="{382920DF-B606-C400-10B3-8B8E7109D0AA}"/>
              </a:ext>
            </a:extLst>
          </p:cNvPr>
          <p:cNvSpPr/>
          <p:nvPr/>
        </p:nvSpPr>
        <p:spPr>
          <a:xfrm>
            <a:off x="5279922" y="3834581"/>
            <a:ext cx="2605549" cy="1199535"/>
          </a:xfrm>
          <a:prstGeom prst="wedgeRoundRectCallout">
            <a:avLst>
              <a:gd name="adj1" fmla="val -38275"/>
              <a:gd name="adj2" fmla="val 63889"/>
              <a:gd name="adj3" fmla="val 16667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nudge the user vector in the direction of the movie vector</a:t>
            </a:r>
            <a:br>
              <a:rPr lang="en-GB" sz="1400" dirty="0"/>
            </a:br>
            <a:r>
              <a:rPr lang="en-GB" sz="1400" dirty="0"/>
              <a:t>and</a:t>
            </a:r>
            <a:br>
              <a:rPr lang="en-GB" sz="1400" dirty="0"/>
            </a:br>
            <a:r>
              <a:rPr lang="en-GB" sz="1400" dirty="0"/>
              <a:t>nudge the movie vector in the direction of the user vector</a:t>
            </a:r>
            <a:endParaRPr lang="en-NL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938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>
            <a:normAutofit/>
          </a:bodyPr>
          <a:lstStyle/>
          <a:p>
            <a:r>
              <a:rPr lang="en-US" sz="3600" dirty="0"/>
              <a:t>Iterative Stochastic Gradient Descent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30770E-27FF-B0F1-FACB-AFE14700DE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800" dirty="0">
                <a:cs typeface="Arial" pitchFamily="34" charset="0"/>
              </a:rPr>
              <a:t>Initialize all variables at random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cs typeface="Arial" pitchFamily="34" charset="0"/>
              </a:rPr>
              <a:t>Iterate over all records (user, item, rating):</a:t>
            </a:r>
          </a:p>
          <a:p>
            <a:pPr marL="628650" lvl="1" indent="-285750"/>
            <a:r>
              <a:rPr lang="en-US" sz="1600" dirty="0">
                <a:cs typeface="Arial" pitchFamily="34" charset="0"/>
              </a:rPr>
              <a:t>estimate the direction of steepest descent of function </a:t>
            </a:r>
            <a:r>
              <a:rPr lang="en-US" sz="1600" b="1" i="1" dirty="0">
                <a:cs typeface="Times New Roman" panose="02020603050405020304" pitchFamily="18" charset="0"/>
              </a:rPr>
              <a:t>f</a:t>
            </a:r>
            <a:r>
              <a:rPr lang="en-US" sz="1600" dirty="0">
                <a:cs typeface="Times New Roman" panose="02020603050405020304" pitchFamily="18" charset="0"/>
              </a:rPr>
              <a:t> </a:t>
            </a:r>
            <a:r>
              <a:rPr lang="en-US" sz="1600" dirty="0">
                <a:cs typeface="Arial" pitchFamily="34" charset="0"/>
              </a:rPr>
              <a:t>(i.e., find a vector of partial derivatives)</a:t>
            </a:r>
          </a:p>
          <a:p>
            <a:pPr marL="628650" lvl="1" indent="-285750"/>
            <a:r>
              <a:rPr lang="en-US" sz="1600" dirty="0">
                <a:cs typeface="Arial" pitchFamily="34" charset="0"/>
              </a:rPr>
              <a:t>make a step of size </a:t>
            </a:r>
            <a:r>
              <a:rPr lang="en-US" sz="1600" i="1" dirty="0" err="1">
                <a:cs typeface="Times New Roman" panose="02020603050405020304" pitchFamily="18" charset="0"/>
              </a:rPr>
              <a:t>η</a:t>
            </a:r>
            <a:r>
              <a:rPr lang="en-US" sz="1600" dirty="0">
                <a:cs typeface="Arial" pitchFamily="34" charset="0"/>
              </a:rPr>
              <a:t> in this direction (learning rate)</a:t>
            </a:r>
          </a:p>
          <a:p>
            <a:pPr marL="0" indent="0" eaLnBrk="1" hangingPunct="1">
              <a:spcBef>
                <a:spcPct val="0"/>
              </a:spcBef>
              <a:buNone/>
            </a:pPr>
            <a:r>
              <a:rPr lang="en-US" sz="1600" dirty="0">
                <a:cs typeface="Arial" pitchFamily="34" charset="0"/>
              </a:rPr>
              <a:t>      till convergence or a stop criterion is met</a:t>
            </a:r>
            <a:endParaRPr lang="en-US" sz="1200" dirty="0">
              <a:cs typeface="Arial" pitchFamily="34" charset="0"/>
            </a:endParaRPr>
          </a:p>
          <a:p>
            <a:pPr marL="0" indent="0" eaLnBrk="1" hangingPunct="1">
              <a:spcBef>
                <a:spcPct val="0"/>
              </a:spcBef>
              <a:buNone/>
            </a:pPr>
            <a:endParaRPr lang="en-US" sz="1400" dirty="0">
              <a:cs typeface="Arial" pitchFamily="34" charset="0"/>
            </a:endParaRPr>
          </a:p>
          <a:p>
            <a:pPr marL="0" indent="0" eaLnBrk="1" hangingPunct="1">
              <a:spcBef>
                <a:spcPct val="0"/>
              </a:spcBef>
              <a:buNone/>
            </a:pPr>
            <a:endParaRPr lang="en-US" sz="1400" dirty="0">
              <a:cs typeface="Arial" pitchFamily="34" charset="0"/>
            </a:endParaRPr>
          </a:p>
          <a:p>
            <a:pPr marL="0" indent="0" eaLnBrk="1" hangingPunct="1">
              <a:spcBef>
                <a:spcPct val="0"/>
              </a:spcBef>
              <a:buNone/>
            </a:pPr>
            <a:r>
              <a:rPr lang="en-US" sz="1600" dirty="0">
                <a:cs typeface="Arial" pitchFamily="34" charset="0"/>
              </a:rPr>
              <a:t>        Iterate:</a:t>
            </a:r>
          </a:p>
          <a:p>
            <a:pPr marL="0" indent="0" eaLnBrk="1" hangingPunct="1">
              <a:spcBef>
                <a:spcPct val="0"/>
              </a:spcBef>
              <a:buNone/>
            </a:pPr>
            <a:r>
              <a:rPr lang="en-US" sz="1600" i="1" dirty="0">
                <a:cs typeface="Arial" pitchFamily="34" charset="0"/>
              </a:rPr>
              <a:t>	</a:t>
            </a:r>
            <a:r>
              <a:rPr lang="en-US" sz="1600" i="1" dirty="0">
                <a:solidFill>
                  <a:srgbClr val="0070C0"/>
                </a:solidFill>
                <a:cs typeface="Times New Roman" panose="02020603050405020304" pitchFamily="18" charset="0"/>
              </a:rPr>
              <a:t>err   = rating – </a:t>
            </a:r>
            <a:r>
              <a:rPr lang="en-US" sz="1600" i="1" dirty="0" err="1">
                <a:solidFill>
                  <a:srgbClr val="0070C0"/>
                </a:solidFill>
                <a:cs typeface="Times New Roman" panose="02020603050405020304" pitchFamily="18" charset="0"/>
              </a:rPr>
              <a:t>u</a:t>
            </a:r>
            <a:r>
              <a:rPr lang="en-US" sz="1600" i="1" baseline="-25000" dirty="0" err="1">
                <a:solidFill>
                  <a:srgbClr val="0070C0"/>
                </a:solidFill>
                <a:cs typeface="Times New Roman" panose="02020603050405020304" pitchFamily="18" charset="0"/>
              </a:rPr>
              <a:t>user</a:t>
            </a:r>
            <a:r>
              <a:rPr lang="en-US" sz="1600" dirty="0" err="1">
                <a:solidFill>
                  <a:srgbClr val="0070C0"/>
                </a:solidFill>
                <a:cs typeface="Times New Roman" panose="02020603050405020304" pitchFamily="18" charset="0"/>
              </a:rPr>
              <a:t>・</a:t>
            </a:r>
            <a:r>
              <a:rPr lang="en-US" sz="1600" i="1" dirty="0" err="1">
                <a:solidFill>
                  <a:srgbClr val="0070C0"/>
                </a:solidFill>
                <a:cs typeface="Times New Roman" panose="02020603050405020304" pitchFamily="18" charset="0"/>
              </a:rPr>
              <a:t>v</a:t>
            </a:r>
            <a:r>
              <a:rPr lang="en-US" sz="1600" i="1" baseline="-25000" dirty="0" err="1">
                <a:solidFill>
                  <a:srgbClr val="0070C0"/>
                </a:solidFill>
                <a:cs typeface="Times New Roman" panose="02020603050405020304" pitchFamily="18" charset="0"/>
              </a:rPr>
              <a:t>item</a:t>
            </a:r>
            <a:endParaRPr lang="en-US" sz="1600" i="1" baseline="-25000" dirty="0">
              <a:solidFill>
                <a:srgbClr val="0070C0"/>
              </a:solidFill>
              <a:cs typeface="Times New Roman" panose="02020603050405020304" pitchFamily="18" charset="0"/>
            </a:endParaRPr>
          </a:p>
          <a:p>
            <a:pPr marL="0" indent="0" eaLnBrk="1" hangingPunct="1">
              <a:spcBef>
                <a:spcPct val="0"/>
              </a:spcBef>
              <a:buNone/>
            </a:pPr>
            <a:r>
              <a:rPr lang="en-US" sz="1600" i="1" baseline="-25000" dirty="0">
                <a:solidFill>
                  <a:srgbClr val="0070C0"/>
                </a:solidFill>
                <a:cs typeface="Times New Roman" panose="02020603050405020304" pitchFamily="18" charset="0"/>
              </a:rPr>
              <a:t>	</a:t>
            </a:r>
            <a:r>
              <a:rPr lang="en-US" sz="1600" i="1" dirty="0" err="1">
                <a:solidFill>
                  <a:srgbClr val="0070C0"/>
                </a:solidFill>
                <a:cs typeface="Times New Roman" panose="02020603050405020304" pitchFamily="18" charset="0"/>
              </a:rPr>
              <a:t>u</a:t>
            </a:r>
            <a:r>
              <a:rPr lang="en-US" sz="1600" i="1" baseline="-25000" dirty="0" err="1">
                <a:solidFill>
                  <a:srgbClr val="0070C0"/>
                </a:solidFill>
                <a:cs typeface="Times New Roman" panose="02020603050405020304" pitchFamily="18" charset="0"/>
              </a:rPr>
              <a:t>user</a:t>
            </a:r>
            <a:r>
              <a:rPr lang="en-US" sz="1600" i="1" dirty="0">
                <a:solidFill>
                  <a:srgbClr val="0070C0"/>
                </a:solidFill>
                <a:cs typeface="Times New Roman" panose="02020603050405020304" pitchFamily="18" charset="0"/>
              </a:rPr>
              <a:t> = </a:t>
            </a:r>
            <a:r>
              <a:rPr lang="en-US" sz="1600" i="1" dirty="0" err="1">
                <a:solidFill>
                  <a:srgbClr val="0070C0"/>
                </a:solidFill>
                <a:cs typeface="Times New Roman" panose="02020603050405020304" pitchFamily="18" charset="0"/>
              </a:rPr>
              <a:t>u</a:t>
            </a:r>
            <a:r>
              <a:rPr lang="en-US" sz="1600" i="1" baseline="-25000" dirty="0" err="1">
                <a:solidFill>
                  <a:srgbClr val="0070C0"/>
                </a:solidFill>
                <a:cs typeface="Times New Roman" panose="02020603050405020304" pitchFamily="18" charset="0"/>
              </a:rPr>
              <a:t>user</a:t>
            </a:r>
            <a:r>
              <a:rPr lang="en-US" sz="1600" i="1" baseline="-25000" dirty="0">
                <a:solidFill>
                  <a:srgbClr val="0070C0"/>
                </a:solidFill>
                <a:cs typeface="Times New Roman" panose="02020603050405020304" pitchFamily="18" charset="0"/>
              </a:rPr>
              <a:t> </a:t>
            </a:r>
            <a:r>
              <a:rPr lang="en-US" sz="1600" i="1" dirty="0">
                <a:solidFill>
                  <a:srgbClr val="0070C0"/>
                </a:solidFill>
                <a:cs typeface="Times New Roman" panose="02020603050405020304" pitchFamily="18" charset="0"/>
              </a:rPr>
              <a:t>+ </a:t>
            </a:r>
            <a:r>
              <a:rPr lang="en-US" sz="1600" i="1" dirty="0" err="1">
                <a:solidFill>
                  <a:srgbClr val="0070C0"/>
                </a:solidFill>
                <a:cs typeface="Times New Roman" panose="02020603050405020304" pitchFamily="18" charset="0"/>
              </a:rPr>
              <a:t>η</a:t>
            </a:r>
            <a:r>
              <a:rPr lang="en-US" sz="1600" dirty="0" err="1">
                <a:solidFill>
                  <a:srgbClr val="0070C0"/>
                </a:solidFill>
                <a:cs typeface="Times New Roman" panose="02020603050405020304" pitchFamily="18" charset="0"/>
              </a:rPr>
              <a:t>・</a:t>
            </a:r>
            <a:r>
              <a:rPr lang="en-US" sz="1600" i="1" dirty="0" err="1">
                <a:solidFill>
                  <a:srgbClr val="0070C0"/>
                </a:solidFill>
                <a:cs typeface="Times New Roman" panose="02020603050405020304" pitchFamily="18" charset="0"/>
              </a:rPr>
              <a:t>err</a:t>
            </a:r>
            <a:r>
              <a:rPr lang="en-US" sz="1600" dirty="0" err="1">
                <a:solidFill>
                  <a:srgbClr val="0070C0"/>
                </a:solidFill>
                <a:cs typeface="Times New Roman" panose="02020603050405020304" pitchFamily="18" charset="0"/>
              </a:rPr>
              <a:t>・</a:t>
            </a:r>
            <a:r>
              <a:rPr lang="en-US" sz="1600" i="1" dirty="0" err="1">
                <a:solidFill>
                  <a:srgbClr val="0070C0"/>
                </a:solidFill>
                <a:cs typeface="Times New Roman" panose="02020603050405020304" pitchFamily="18" charset="0"/>
              </a:rPr>
              <a:t>v</a:t>
            </a:r>
            <a:r>
              <a:rPr lang="en-US" sz="1600" i="1" baseline="-25000" dirty="0" err="1">
                <a:solidFill>
                  <a:srgbClr val="0070C0"/>
                </a:solidFill>
                <a:cs typeface="Times New Roman" panose="02020603050405020304" pitchFamily="18" charset="0"/>
              </a:rPr>
              <a:t>item</a:t>
            </a:r>
            <a:endParaRPr lang="en-US" sz="1600" i="1" baseline="-25000" dirty="0">
              <a:solidFill>
                <a:srgbClr val="0070C0"/>
              </a:solidFill>
              <a:cs typeface="Times New Roman" panose="02020603050405020304" pitchFamily="18" charset="0"/>
            </a:endParaRPr>
          </a:p>
          <a:p>
            <a:pPr marL="0" indent="0">
              <a:spcBef>
                <a:spcPct val="0"/>
              </a:spcBef>
              <a:buNone/>
            </a:pPr>
            <a:r>
              <a:rPr lang="en-US" sz="1600" i="1" baseline="-25000" dirty="0">
                <a:solidFill>
                  <a:srgbClr val="0070C0"/>
                </a:solidFill>
                <a:cs typeface="Times New Roman" panose="02020603050405020304" pitchFamily="18" charset="0"/>
              </a:rPr>
              <a:t>	</a:t>
            </a:r>
            <a:r>
              <a:rPr lang="en-US" sz="1600" i="1" dirty="0" err="1">
                <a:solidFill>
                  <a:srgbClr val="0070C0"/>
                </a:solidFill>
                <a:cs typeface="Times New Roman" panose="02020603050405020304" pitchFamily="18" charset="0"/>
              </a:rPr>
              <a:t>v</a:t>
            </a:r>
            <a:r>
              <a:rPr lang="en-US" sz="1600" i="1" baseline="-25000" dirty="0" err="1">
                <a:solidFill>
                  <a:srgbClr val="0070C0"/>
                </a:solidFill>
                <a:cs typeface="Times New Roman" panose="02020603050405020304" pitchFamily="18" charset="0"/>
              </a:rPr>
              <a:t>item</a:t>
            </a:r>
            <a:r>
              <a:rPr lang="en-US" sz="1600" i="1" dirty="0">
                <a:solidFill>
                  <a:srgbClr val="0070C0"/>
                </a:solidFill>
                <a:cs typeface="Times New Roman" panose="02020603050405020304" pitchFamily="18" charset="0"/>
              </a:rPr>
              <a:t> = </a:t>
            </a:r>
            <a:r>
              <a:rPr lang="en-US" sz="1600" i="1" dirty="0" err="1">
                <a:solidFill>
                  <a:srgbClr val="0070C0"/>
                </a:solidFill>
                <a:cs typeface="Times New Roman" panose="02020603050405020304" pitchFamily="18" charset="0"/>
              </a:rPr>
              <a:t>v</a:t>
            </a:r>
            <a:r>
              <a:rPr lang="en-US" sz="1600" i="1" baseline="-25000" dirty="0" err="1">
                <a:solidFill>
                  <a:srgbClr val="0070C0"/>
                </a:solidFill>
                <a:cs typeface="Times New Roman" panose="02020603050405020304" pitchFamily="18" charset="0"/>
              </a:rPr>
              <a:t>item</a:t>
            </a:r>
            <a:r>
              <a:rPr lang="en-US" sz="1600" i="1" baseline="-25000" dirty="0">
                <a:solidFill>
                  <a:srgbClr val="0070C0"/>
                </a:solidFill>
                <a:cs typeface="Times New Roman" panose="02020603050405020304" pitchFamily="18" charset="0"/>
              </a:rPr>
              <a:t> </a:t>
            </a:r>
            <a:r>
              <a:rPr lang="en-US" sz="1600" i="1" dirty="0">
                <a:solidFill>
                  <a:srgbClr val="0070C0"/>
                </a:solidFill>
                <a:cs typeface="Times New Roman" panose="02020603050405020304" pitchFamily="18" charset="0"/>
              </a:rPr>
              <a:t>+ </a:t>
            </a:r>
            <a:r>
              <a:rPr lang="en-US" sz="1600" i="1" dirty="0" err="1">
                <a:solidFill>
                  <a:srgbClr val="0070C0"/>
                </a:solidFill>
                <a:cs typeface="Times New Roman" panose="02020603050405020304" pitchFamily="18" charset="0"/>
              </a:rPr>
              <a:t>η</a:t>
            </a:r>
            <a:r>
              <a:rPr lang="en-US" sz="1600" dirty="0" err="1">
                <a:solidFill>
                  <a:srgbClr val="0070C0"/>
                </a:solidFill>
                <a:cs typeface="Times New Roman" panose="02020603050405020304" pitchFamily="18" charset="0"/>
              </a:rPr>
              <a:t>・</a:t>
            </a:r>
            <a:r>
              <a:rPr lang="en-US" sz="1600" i="1" dirty="0" err="1">
                <a:solidFill>
                  <a:srgbClr val="0070C0"/>
                </a:solidFill>
                <a:cs typeface="Times New Roman" panose="02020603050405020304" pitchFamily="18" charset="0"/>
              </a:rPr>
              <a:t>err</a:t>
            </a:r>
            <a:r>
              <a:rPr lang="en-US" sz="1600" dirty="0" err="1">
                <a:solidFill>
                  <a:srgbClr val="0070C0"/>
                </a:solidFill>
                <a:cs typeface="Times New Roman" panose="02020603050405020304" pitchFamily="18" charset="0"/>
              </a:rPr>
              <a:t>・</a:t>
            </a:r>
            <a:r>
              <a:rPr lang="en-US" sz="1600" i="1" dirty="0" err="1">
                <a:solidFill>
                  <a:srgbClr val="0070C0"/>
                </a:solidFill>
                <a:cs typeface="Times New Roman" panose="02020603050405020304" pitchFamily="18" charset="0"/>
              </a:rPr>
              <a:t>u</a:t>
            </a:r>
            <a:r>
              <a:rPr lang="en-US" sz="1600" i="1" baseline="-25000" dirty="0" err="1">
                <a:solidFill>
                  <a:srgbClr val="0070C0"/>
                </a:solidFill>
                <a:cs typeface="Times New Roman" panose="02020603050405020304" pitchFamily="18" charset="0"/>
              </a:rPr>
              <a:t>user</a:t>
            </a:r>
            <a:endParaRPr lang="en-US" sz="1600" i="1" baseline="-25000" dirty="0">
              <a:solidFill>
                <a:srgbClr val="0070C0"/>
              </a:solidFill>
              <a:cs typeface="Times New Roman" panose="02020603050405020304" pitchFamily="18" charset="0"/>
            </a:endParaRPr>
          </a:p>
          <a:p>
            <a:pPr marL="0" indent="0" eaLnBrk="1" hangingPunct="1">
              <a:spcBef>
                <a:spcPct val="0"/>
              </a:spcBef>
              <a:buNone/>
            </a:pPr>
            <a:endParaRPr lang="en-US" sz="1600" i="1" baseline="-25000" dirty="0">
              <a:cs typeface="Times New Roman" panose="02020603050405020304" pitchFamily="18" charset="0"/>
            </a:endParaRPr>
          </a:p>
          <a:p>
            <a:pPr marL="0" indent="0" eaLnBrk="1" hangingPunct="1">
              <a:spcBef>
                <a:spcPct val="0"/>
              </a:spcBef>
              <a:buNone/>
            </a:pPr>
            <a:r>
              <a:rPr lang="en-US" sz="1600" dirty="0">
                <a:cs typeface="Arial" pitchFamily="34" charset="0"/>
              </a:rPr>
              <a:t>        until convergence</a:t>
            </a:r>
          </a:p>
          <a:p>
            <a:pPr marL="0" indent="0" eaLnBrk="1" hangingPunct="1">
              <a:spcBef>
                <a:spcPct val="0"/>
              </a:spcBef>
              <a:buNone/>
            </a:pPr>
            <a:endParaRPr lang="en-US" sz="1600" dirty="0">
              <a:cs typeface="Arial" pitchFamily="34" charset="0"/>
            </a:endParaRPr>
          </a:p>
          <a:p>
            <a:pPr>
              <a:spcBef>
                <a:spcPct val="0"/>
              </a:spcBef>
            </a:pPr>
            <a:endParaRPr lang="en-US" sz="1800" dirty="0">
              <a:cs typeface="Arial" pitchFamily="34" charset="0"/>
            </a:endParaRPr>
          </a:p>
          <a:p>
            <a:pPr>
              <a:spcBef>
                <a:spcPct val="0"/>
              </a:spcBef>
            </a:pPr>
            <a:r>
              <a:rPr lang="en-US" sz="1800" dirty="0">
                <a:cs typeface="Arial" pitchFamily="34" charset="0"/>
              </a:rPr>
              <a:t>The gradient is estimated with each update, from only a single (u, </a:t>
            </a:r>
            <a:r>
              <a:rPr lang="en-US" sz="1800" dirty="0" err="1">
                <a:cs typeface="Arial" pitchFamily="34" charset="0"/>
              </a:rPr>
              <a:t>i</a:t>
            </a:r>
            <a:r>
              <a:rPr lang="en-US" sz="1800" dirty="0">
                <a:cs typeface="Arial" pitchFamily="34" charset="0"/>
              </a:rPr>
              <a:t>, r) record</a:t>
            </a:r>
          </a:p>
          <a:p>
            <a:pPr>
              <a:spcBef>
                <a:spcPct val="0"/>
              </a:spcBef>
            </a:pPr>
            <a:r>
              <a:rPr lang="en-US" sz="1800" dirty="0">
                <a:cs typeface="Arial" pitchFamily="34" charset="0"/>
              </a:rPr>
              <a:t>The process is stochastic since records are processed in random order</a:t>
            </a:r>
            <a:endParaRPr lang="en-US" sz="1600" dirty="0">
              <a:cs typeface="Arial" pitchFamily="34" charset="0"/>
            </a:endParaRPr>
          </a:p>
          <a:p>
            <a:endParaRPr lang="en-NL" sz="2800" dirty="0"/>
          </a:p>
        </p:txBody>
      </p:sp>
      <p:sp>
        <p:nvSpPr>
          <p:cNvPr id="2" name="Rounded Rectangular Callout 1">
            <a:extLst>
              <a:ext uri="{FF2B5EF4-FFF2-40B4-BE49-F238E27FC236}">
                <a16:creationId xmlns:a16="http://schemas.microsoft.com/office/drawing/2014/main" id="{341ADD75-70FB-E5FF-6B44-88F6B9E904B1}"/>
              </a:ext>
            </a:extLst>
          </p:cNvPr>
          <p:cNvSpPr/>
          <p:nvPr/>
        </p:nvSpPr>
        <p:spPr>
          <a:xfrm>
            <a:off x="2901191" y="1862478"/>
            <a:ext cx="982857" cy="454755"/>
          </a:xfrm>
          <a:prstGeom prst="wedgeRoundRectCallout">
            <a:avLst>
              <a:gd name="adj1" fmla="val -37748"/>
              <a:gd name="adj2" fmla="val 101210"/>
              <a:gd name="adj3" fmla="val 16667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i="1" dirty="0" err="1">
                <a:cs typeface="Times New Roman" panose="02020603050405020304" pitchFamily="18" charset="0"/>
              </a:rPr>
              <a:t>η</a:t>
            </a:r>
            <a:r>
              <a:rPr lang="en-US" sz="1400" i="1" dirty="0">
                <a:cs typeface="Times New Roman" panose="02020603050405020304" pitchFamily="18" charset="0"/>
              </a:rPr>
              <a:t> = 0.001 or similar</a:t>
            </a:r>
            <a:endParaRPr lang="en-NL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62775-BCCD-E56B-C14F-D8C474663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938" name="Rectangle 2">
            <a:extLst>
              <a:ext uri="{FF2B5EF4-FFF2-40B4-BE49-F238E27FC236}">
                <a16:creationId xmlns:a16="http://schemas.microsoft.com/office/drawing/2014/main" id="{B6EBDB28-9C19-87D3-7507-07131C2B33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>
            <a:normAutofit/>
          </a:bodyPr>
          <a:lstStyle/>
          <a:p>
            <a:r>
              <a:rPr lang="en-US" sz="3600" dirty="0" err="1"/>
              <a:t>Regularisation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7A951D-7770-21DC-9EB5-132A97F703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en-US" sz="1800" dirty="0">
                <a:cs typeface="Arial" pitchFamily="34" charset="0"/>
              </a:rPr>
              <a:t>The initial implementation by Funk is prone to overfitting</a:t>
            </a:r>
          </a:p>
          <a:p>
            <a:pPr>
              <a:spcBef>
                <a:spcPct val="0"/>
              </a:spcBef>
            </a:pPr>
            <a:r>
              <a:rPr lang="en-US" sz="1800" dirty="0">
                <a:cs typeface="Arial" pitchFamily="34" charset="0"/>
              </a:rPr>
              <a:t>For extreme movies/users, the values may become quite extreme</a:t>
            </a:r>
          </a:p>
          <a:p>
            <a:pPr>
              <a:spcBef>
                <a:spcPct val="0"/>
              </a:spcBef>
            </a:pPr>
            <a:r>
              <a:rPr lang="en-US" sz="1800" dirty="0">
                <a:cs typeface="Arial" pitchFamily="34" charset="0"/>
              </a:rPr>
              <a:t>Large values in U may be compensated with small values in V, and vice versa</a:t>
            </a:r>
          </a:p>
          <a:p>
            <a:pPr>
              <a:spcBef>
                <a:spcPct val="0"/>
              </a:spcBef>
            </a:pPr>
            <a:endParaRPr lang="en-US" sz="1800" dirty="0">
              <a:cs typeface="Arial" pitchFamily="34" charset="0"/>
            </a:endParaRPr>
          </a:p>
          <a:p>
            <a:pPr>
              <a:spcBef>
                <a:spcPct val="0"/>
              </a:spcBef>
            </a:pPr>
            <a:r>
              <a:rPr lang="en-US" sz="1800" dirty="0">
                <a:cs typeface="Arial" pitchFamily="34" charset="0"/>
              </a:rPr>
              <a:t>Solution: </a:t>
            </a:r>
            <a:r>
              <a:rPr lang="en-US" sz="1800" dirty="0" err="1">
                <a:cs typeface="Arial" pitchFamily="34" charset="0"/>
              </a:rPr>
              <a:t>regularisation</a:t>
            </a:r>
            <a:endParaRPr lang="en-US" sz="1800" dirty="0">
              <a:cs typeface="Arial" pitchFamily="34" charset="0"/>
            </a:endParaRPr>
          </a:p>
          <a:p>
            <a:pPr lvl="1">
              <a:spcBef>
                <a:spcPct val="0"/>
              </a:spcBef>
            </a:pPr>
            <a:r>
              <a:rPr lang="en-US" sz="1600" dirty="0">
                <a:cs typeface="Arial" pitchFamily="34" charset="0"/>
              </a:rPr>
              <a:t>add a small penalty on large values</a:t>
            </a:r>
          </a:p>
          <a:p>
            <a:pPr>
              <a:spcBef>
                <a:spcPct val="0"/>
              </a:spcBef>
            </a:pPr>
            <a:endParaRPr lang="en-US" sz="1600" dirty="0">
              <a:cs typeface="Arial" pitchFamily="34" charset="0"/>
            </a:endParaRPr>
          </a:p>
          <a:p>
            <a:pPr marL="0" indent="0">
              <a:spcBef>
                <a:spcPct val="0"/>
              </a:spcBef>
              <a:buNone/>
            </a:pPr>
            <a:r>
              <a:rPr lang="en-US" sz="1600" i="1" baseline="-25000" dirty="0">
                <a:solidFill>
                  <a:srgbClr val="0070C0"/>
                </a:solidFill>
                <a:cs typeface="Times New Roman" panose="02020603050405020304" pitchFamily="18" charset="0"/>
              </a:rPr>
              <a:t>	</a:t>
            </a:r>
            <a:r>
              <a:rPr lang="en-US" sz="1600" i="1" dirty="0" err="1">
                <a:solidFill>
                  <a:srgbClr val="0070C0"/>
                </a:solidFill>
                <a:cs typeface="Times New Roman" panose="02020603050405020304" pitchFamily="18" charset="0"/>
              </a:rPr>
              <a:t>u</a:t>
            </a:r>
            <a:r>
              <a:rPr lang="en-US" sz="1600" i="1" baseline="-25000" dirty="0" err="1">
                <a:solidFill>
                  <a:srgbClr val="0070C0"/>
                </a:solidFill>
                <a:cs typeface="Times New Roman" panose="02020603050405020304" pitchFamily="18" charset="0"/>
              </a:rPr>
              <a:t>user</a:t>
            </a:r>
            <a:r>
              <a:rPr lang="en-US" sz="1600" i="1" dirty="0">
                <a:solidFill>
                  <a:srgbClr val="0070C0"/>
                </a:solidFill>
                <a:cs typeface="Times New Roman" panose="02020603050405020304" pitchFamily="18" charset="0"/>
              </a:rPr>
              <a:t> = </a:t>
            </a:r>
            <a:r>
              <a:rPr lang="en-US" sz="1600" i="1" dirty="0" err="1">
                <a:solidFill>
                  <a:srgbClr val="0070C0"/>
                </a:solidFill>
                <a:cs typeface="Times New Roman" panose="02020603050405020304" pitchFamily="18" charset="0"/>
              </a:rPr>
              <a:t>u</a:t>
            </a:r>
            <a:r>
              <a:rPr lang="en-US" sz="1600" i="1" baseline="-25000" dirty="0" err="1">
                <a:solidFill>
                  <a:srgbClr val="0070C0"/>
                </a:solidFill>
                <a:cs typeface="Times New Roman" panose="02020603050405020304" pitchFamily="18" charset="0"/>
              </a:rPr>
              <a:t>user</a:t>
            </a:r>
            <a:r>
              <a:rPr lang="en-US" sz="1600" i="1" baseline="-25000" dirty="0">
                <a:solidFill>
                  <a:srgbClr val="0070C0"/>
                </a:solidFill>
                <a:cs typeface="Times New Roman" panose="02020603050405020304" pitchFamily="18" charset="0"/>
              </a:rPr>
              <a:t> </a:t>
            </a:r>
            <a:r>
              <a:rPr lang="en-US" sz="1600" i="1" dirty="0">
                <a:solidFill>
                  <a:srgbClr val="0070C0"/>
                </a:solidFill>
                <a:cs typeface="Times New Roman" panose="02020603050405020304" pitchFamily="18" charset="0"/>
              </a:rPr>
              <a:t>+ </a:t>
            </a:r>
            <a:r>
              <a:rPr lang="en-US" sz="1600" i="1" dirty="0" err="1">
                <a:solidFill>
                  <a:srgbClr val="0070C0"/>
                </a:solidFill>
                <a:cs typeface="Times New Roman" panose="02020603050405020304" pitchFamily="18" charset="0"/>
              </a:rPr>
              <a:t>η</a:t>
            </a:r>
            <a:r>
              <a:rPr lang="en-US" sz="1600" dirty="0">
                <a:solidFill>
                  <a:srgbClr val="0070C0"/>
                </a:solidFill>
                <a:cs typeface="Times New Roman" panose="02020603050405020304" pitchFamily="18" charset="0"/>
              </a:rPr>
              <a:t>・(</a:t>
            </a:r>
            <a:r>
              <a:rPr lang="en-US" sz="1600" i="1" dirty="0" err="1">
                <a:solidFill>
                  <a:srgbClr val="0070C0"/>
                </a:solidFill>
                <a:cs typeface="Times New Roman" panose="02020603050405020304" pitchFamily="18" charset="0"/>
              </a:rPr>
              <a:t>err</a:t>
            </a:r>
            <a:r>
              <a:rPr lang="en-US" sz="1600" dirty="0" err="1">
                <a:solidFill>
                  <a:srgbClr val="0070C0"/>
                </a:solidFill>
                <a:cs typeface="Times New Roman" panose="02020603050405020304" pitchFamily="18" charset="0"/>
              </a:rPr>
              <a:t>・</a:t>
            </a:r>
            <a:r>
              <a:rPr lang="en-US" sz="1600" i="1" dirty="0" err="1">
                <a:solidFill>
                  <a:srgbClr val="0070C0"/>
                </a:solidFill>
                <a:cs typeface="Times New Roman" panose="02020603050405020304" pitchFamily="18" charset="0"/>
              </a:rPr>
              <a:t>v</a:t>
            </a:r>
            <a:r>
              <a:rPr lang="en-US" sz="1600" i="1" baseline="-25000" dirty="0" err="1">
                <a:solidFill>
                  <a:srgbClr val="0070C0"/>
                </a:solidFill>
                <a:cs typeface="Times New Roman" panose="02020603050405020304" pitchFamily="18" charset="0"/>
              </a:rPr>
              <a:t>item</a:t>
            </a:r>
            <a:r>
              <a:rPr lang="en-US" sz="1600" dirty="0">
                <a:solidFill>
                  <a:srgbClr val="0070C0"/>
                </a:solidFill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FF0000"/>
                </a:solidFill>
                <a:cs typeface="Times New Roman" panose="02020603050405020304" pitchFamily="18" charset="0"/>
              </a:rPr>
              <a:t>− </a:t>
            </a:r>
            <a:r>
              <a:rPr lang="el-GR" sz="1600" i="1" dirty="0">
                <a:solidFill>
                  <a:srgbClr val="FF0000"/>
                </a:solidFill>
                <a:cs typeface="Times New Roman" panose="02020603050405020304" pitchFamily="18" charset="0"/>
              </a:rPr>
              <a:t>λ</a:t>
            </a:r>
            <a:r>
              <a:rPr lang="en-US" sz="1600" dirty="0">
                <a:solidFill>
                  <a:srgbClr val="FF0000"/>
                </a:solidFill>
                <a:cs typeface="Times New Roman" panose="02020603050405020304" pitchFamily="18" charset="0"/>
              </a:rPr>
              <a:t>・</a:t>
            </a:r>
            <a:r>
              <a:rPr lang="en-US" sz="1600" i="1" dirty="0" err="1">
                <a:solidFill>
                  <a:srgbClr val="FF0000"/>
                </a:solidFill>
                <a:cs typeface="Times New Roman" panose="02020603050405020304" pitchFamily="18" charset="0"/>
              </a:rPr>
              <a:t>u</a:t>
            </a:r>
            <a:r>
              <a:rPr lang="en-US" sz="1600" i="1" baseline="-25000" dirty="0" err="1">
                <a:solidFill>
                  <a:srgbClr val="FF0000"/>
                </a:solidFill>
                <a:cs typeface="Times New Roman" panose="02020603050405020304" pitchFamily="18" charset="0"/>
              </a:rPr>
              <a:t>user</a:t>
            </a:r>
            <a:r>
              <a:rPr lang="en-US" sz="1600" dirty="0">
                <a:solidFill>
                  <a:srgbClr val="FF0000"/>
                </a:solidFill>
                <a:cs typeface="Times New Roman" panose="02020603050405020304" pitchFamily="18" charset="0"/>
              </a:rPr>
              <a:t>)</a:t>
            </a:r>
          </a:p>
          <a:p>
            <a:pPr marL="0" indent="0">
              <a:spcBef>
                <a:spcPct val="0"/>
              </a:spcBef>
              <a:buNone/>
            </a:pPr>
            <a:r>
              <a:rPr lang="en-US" sz="1600" i="1" baseline="-25000" dirty="0">
                <a:solidFill>
                  <a:srgbClr val="0070C0"/>
                </a:solidFill>
                <a:cs typeface="Times New Roman" panose="02020603050405020304" pitchFamily="18" charset="0"/>
              </a:rPr>
              <a:t>	</a:t>
            </a:r>
            <a:r>
              <a:rPr lang="en-US" sz="1600" i="1" dirty="0" err="1">
                <a:solidFill>
                  <a:srgbClr val="0070C0"/>
                </a:solidFill>
                <a:cs typeface="Times New Roman" panose="02020603050405020304" pitchFamily="18" charset="0"/>
              </a:rPr>
              <a:t>v</a:t>
            </a:r>
            <a:r>
              <a:rPr lang="en-US" sz="1600" i="1" baseline="-25000" dirty="0" err="1">
                <a:solidFill>
                  <a:srgbClr val="0070C0"/>
                </a:solidFill>
                <a:cs typeface="Times New Roman" panose="02020603050405020304" pitchFamily="18" charset="0"/>
              </a:rPr>
              <a:t>item</a:t>
            </a:r>
            <a:r>
              <a:rPr lang="en-US" sz="1600" i="1" dirty="0">
                <a:solidFill>
                  <a:srgbClr val="0070C0"/>
                </a:solidFill>
                <a:cs typeface="Times New Roman" panose="02020603050405020304" pitchFamily="18" charset="0"/>
              </a:rPr>
              <a:t> = </a:t>
            </a:r>
            <a:r>
              <a:rPr lang="en-US" sz="1600" i="1" dirty="0" err="1">
                <a:solidFill>
                  <a:srgbClr val="0070C0"/>
                </a:solidFill>
                <a:cs typeface="Times New Roman" panose="02020603050405020304" pitchFamily="18" charset="0"/>
              </a:rPr>
              <a:t>v</a:t>
            </a:r>
            <a:r>
              <a:rPr lang="en-US" sz="1600" i="1" baseline="-25000" dirty="0" err="1">
                <a:solidFill>
                  <a:srgbClr val="0070C0"/>
                </a:solidFill>
                <a:cs typeface="Times New Roman" panose="02020603050405020304" pitchFamily="18" charset="0"/>
              </a:rPr>
              <a:t>item</a:t>
            </a:r>
            <a:r>
              <a:rPr lang="en-US" sz="1600" i="1" baseline="-25000" dirty="0">
                <a:solidFill>
                  <a:srgbClr val="0070C0"/>
                </a:solidFill>
                <a:cs typeface="Times New Roman" panose="02020603050405020304" pitchFamily="18" charset="0"/>
              </a:rPr>
              <a:t> </a:t>
            </a:r>
            <a:r>
              <a:rPr lang="en-US" sz="1600" i="1" dirty="0">
                <a:solidFill>
                  <a:srgbClr val="0070C0"/>
                </a:solidFill>
                <a:cs typeface="Times New Roman" panose="02020603050405020304" pitchFamily="18" charset="0"/>
              </a:rPr>
              <a:t>+ </a:t>
            </a:r>
            <a:r>
              <a:rPr lang="en-US" sz="1600" i="1" dirty="0" err="1">
                <a:solidFill>
                  <a:srgbClr val="0070C0"/>
                </a:solidFill>
                <a:cs typeface="Times New Roman" panose="02020603050405020304" pitchFamily="18" charset="0"/>
              </a:rPr>
              <a:t>η</a:t>
            </a:r>
            <a:r>
              <a:rPr lang="en-US" sz="1600" dirty="0">
                <a:solidFill>
                  <a:srgbClr val="0070C0"/>
                </a:solidFill>
                <a:cs typeface="Times New Roman" panose="02020603050405020304" pitchFamily="18" charset="0"/>
              </a:rPr>
              <a:t>・(</a:t>
            </a:r>
            <a:r>
              <a:rPr lang="en-US" sz="1600" i="1" dirty="0" err="1">
                <a:solidFill>
                  <a:srgbClr val="0070C0"/>
                </a:solidFill>
                <a:cs typeface="Times New Roman" panose="02020603050405020304" pitchFamily="18" charset="0"/>
              </a:rPr>
              <a:t>err</a:t>
            </a:r>
            <a:r>
              <a:rPr lang="en-US" sz="1600" dirty="0" err="1">
                <a:solidFill>
                  <a:srgbClr val="0070C0"/>
                </a:solidFill>
                <a:cs typeface="Times New Roman" panose="02020603050405020304" pitchFamily="18" charset="0"/>
              </a:rPr>
              <a:t>・</a:t>
            </a:r>
            <a:r>
              <a:rPr lang="en-US" sz="1600" i="1" dirty="0" err="1">
                <a:solidFill>
                  <a:srgbClr val="0070C0"/>
                </a:solidFill>
                <a:cs typeface="Times New Roman" panose="02020603050405020304" pitchFamily="18" charset="0"/>
              </a:rPr>
              <a:t>u</a:t>
            </a:r>
            <a:r>
              <a:rPr lang="en-US" sz="1600" i="1" baseline="-25000" dirty="0" err="1">
                <a:solidFill>
                  <a:srgbClr val="0070C0"/>
                </a:solidFill>
                <a:cs typeface="Times New Roman" panose="02020603050405020304" pitchFamily="18" charset="0"/>
              </a:rPr>
              <a:t>user</a:t>
            </a:r>
            <a:r>
              <a:rPr lang="en-US" sz="1600" i="1" baseline="-25000" dirty="0">
                <a:solidFill>
                  <a:srgbClr val="0070C0"/>
                </a:solidFill>
                <a:cs typeface="Times New Roman" panose="02020603050405020304" pitchFamily="18" charset="0"/>
              </a:rPr>
              <a:t>  </a:t>
            </a:r>
            <a:r>
              <a:rPr lang="en-US" sz="1600" dirty="0">
                <a:solidFill>
                  <a:srgbClr val="FF0000"/>
                </a:solidFill>
                <a:cs typeface="Times New Roman" panose="02020603050405020304" pitchFamily="18" charset="0"/>
              </a:rPr>
              <a:t>−</a:t>
            </a:r>
            <a:r>
              <a:rPr lang="en-US" sz="1600" dirty="0">
                <a:solidFill>
                  <a:srgbClr val="0070C0"/>
                </a:solidFill>
                <a:cs typeface="Times New Roman" panose="02020603050405020304" pitchFamily="18" charset="0"/>
              </a:rPr>
              <a:t> </a:t>
            </a:r>
            <a:r>
              <a:rPr lang="el-GR" sz="1600" i="1" dirty="0">
                <a:solidFill>
                  <a:srgbClr val="FF0000"/>
                </a:solidFill>
                <a:cs typeface="Times New Roman" panose="02020603050405020304" pitchFamily="18" charset="0"/>
              </a:rPr>
              <a:t>λ</a:t>
            </a:r>
            <a:r>
              <a:rPr lang="en-US" sz="1600" dirty="0">
                <a:solidFill>
                  <a:srgbClr val="FF0000"/>
                </a:solidFill>
                <a:cs typeface="Times New Roman" panose="02020603050405020304" pitchFamily="18" charset="0"/>
              </a:rPr>
              <a:t>・</a:t>
            </a:r>
            <a:r>
              <a:rPr lang="en-US" sz="1600" i="1" dirty="0" err="1">
                <a:solidFill>
                  <a:srgbClr val="FF0000"/>
                </a:solidFill>
                <a:cs typeface="Times New Roman" panose="02020603050405020304" pitchFamily="18" charset="0"/>
              </a:rPr>
              <a:t>u</a:t>
            </a:r>
            <a:r>
              <a:rPr lang="en-US" sz="1600" i="1" baseline="-25000" dirty="0" err="1">
                <a:solidFill>
                  <a:srgbClr val="FF0000"/>
                </a:solidFill>
                <a:cs typeface="Times New Roman" panose="02020603050405020304" pitchFamily="18" charset="0"/>
              </a:rPr>
              <a:t>item</a:t>
            </a:r>
            <a:r>
              <a:rPr lang="en-US" sz="1600" dirty="0">
                <a:solidFill>
                  <a:srgbClr val="FF0000"/>
                </a:solidFill>
                <a:cs typeface="Times New Roman" panose="02020603050405020304" pitchFamily="18" charset="0"/>
              </a:rPr>
              <a:t>)</a:t>
            </a:r>
            <a:endParaRPr lang="en-US" sz="1600" i="1" baseline="-25000" dirty="0">
              <a:solidFill>
                <a:srgbClr val="FF0000"/>
              </a:solidFill>
              <a:cs typeface="Times New Roman" panose="02020603050405020304" pitchFamily="18" charset="0"/>
            </a:endParaRPr>
          </a:p>
          <a:p>
            <a:pPr marL="0" indent="0" eaLnBrk="1" hangingPunct="1">
              <a:spcBef>
                <a:spcPct val="0"/>
              </a:spcBef>
              <a:buNone/>
            </a:pPr>
            <a:endParaRPr lang="en-US" sz="1600" i="1" baseline="-25000" dirty="0">
              <a:cs typeface="Times New Roman" panose="02020603050405020304" pitchFamily="18" charset="0"/>
            </a:endParaRPr>
          </a:p>
          <a:p>
            <a:pPr marL="0" indent="0" eaLnBrk="1" hangingPunct="1">
              <a:spcBef>
                <a:spcPct val="0"/>
              </a:spcBef>
              <a:buNone/>
            </a:pPr>
            <a:endParaRPr lang="en-US" sz="1600" dirty="0">
              <a:cs typeface="Arial" pitchFamily="34" charset="0"/>
            </a:endParaRPr>
          </a:p>
          <a:p>
            <a:pPr>
              <a:spcBef>
                <a:spcPct val="0"/>
              </a:spcBef>
            </a:pPr>
            <a:r>
              <a:rPr lang="en-US" sz="1800" dirty="0">
                <a:cs typeface="Arial" pitchFamily="34" charset="0"/>
              </a:rPr>
              <a:t>Regularized SGD-MF works better on unseen data</a:t>
            </a:r>
          </a:p>
          <a:p>
            <a:pPr marL="0" indent="0">
              <a:buNone/>
            </a:pPr>
            <a:endParaRPr lang="en-NL" sz="2800" dirty="0"/>
          </a:p>
        </p:txBody>
      </p:sp>
      <p:sp>
        <p:nvSpPr>
          <p:cNvPr id="2" name="Rounded Rectangular Callout 1">
            <a:extLst>
              <a:ext uri="{FF2B5EF4-FFF2-40B4-BE49-F238E27FC236}">
                <a16:creationId xmlns:a16="http://schemas.microsoft.com/office/drawing/2014/main" id="{F6B1EE12-8DC2-303D-267C-E9D871B6B8A9}"/>
              </a:ext>
            </a:extLst>
          </p:cNvPr>
          <p:cNvSpPr/>
          <p:nvPr/>
        </p:nvSpPr>
        <p:spPr>
          <a:xfrm>
            <a:off x="4088733" y="2349394"/>
            <a:ext cx="938849" cy="454755"/>
          </a:xfrm>
          <a:prstGeom prst="wedgeRoundRectCallout">
            <a:avLst>
              <a:gd name="adj1" fmla="val -42956"/>
              <a:gd name="adj2" fmla="val 100528"/>
              <a:gd name="adj3" fmla="val 16667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l-GR" sz="1400" i="1" dirty="0">
                <a:solidFill>
                  <a:schemeClr val="tx1"/>
                </a:solidFill>
                <a:cs typeface="Times New Roman" panose="02020603050405020304" pitchFamily="18" charset="0"/>
              </a:rPr>
              <a:t>λ</a:t>
            </a:r>
            <a:r>
              <a:rPr lang="en-US" sz="1400" i="1" dirty="0">
                <a:cs typeface="Times New Roman" panose="02020603050405020304" pitchFamily="18" charset="0"/>
              </a:rPr>
              <a:t> = 0.01 or similar</a:t>
            </a:r>
            <a:endParaRPr lang="en-NL" sz="1400" dirty="0"/>
          </a:p>
        </p:txBody>
      </p:sp>
    </p:spTree>
    <p:extLst>
      <p:ext uri="{BB962C8B-B14F-4D97-AF65-F5344CB8AC3E}">
        <p14:creationId xmlns:p14="http://schemas.microsoft.com/office/powerpoint/2010/main" val="2765684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938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>
            <a:normAutofit/>
          </a:bodyPr>
          <a:lstStyle/>
          <a:p>
            <a:r>
              <a:rPr lang="en-US" sz="3200" dirty="0"/>
              <a:t>Alternating Least Squares</a:t>
            </a:r>
            <a:endParaRPr lang="en-US" sz="3600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BCFA269-403E-EFD3-FC3D-E2EA6B1A69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cs typeface="Arial" pitchFamily="34" charset="0"/>
              </a:rPr>
              <a:t>Alternative to Stochastic Gradient Descent</a:t>
            </a:r>
          </a:p>
          <a:p>
            <a:endParaRPr lang="en-US" sz="1800" dirty="0">
              <a:cs typeface="Arial" pitchFamily="34" charset="0"/>
            </a:endParaRPr>
          </a:p>
          <a:p>
            <a:pPr marL="842963" lvl="1" indent="-385763">
              <a:buAutoNum type="arabicPeriod"/>
            </a:pPr>
            <a:r>
              <a:rPr lang="en-US" sz="1600" dirty="0">
                <a:cs typeface="Arial" pitchFamily="34" charset="0"/>
              </a:rPr>
              <a:t>Initialize all variables at random</a:t>
            </a:r>
          </a:p>
          <a:p>
            <a:pPr marL="842963" lvl="1" indent="-385763">
              <a:buAutoNum type="arabicPeriod"/>
            </a:pPr>
            <a:r>
              <a:rPr lang="en-US" sz="1600" dirty="0">
                <a:cs typeface="Arial" pitchFamily="34" charset="0"/>
              </a:rPr>
              <a:t>Repeat:</a:t>
            </a:r>
          </a:p>
          <a:p>
            <a:pPr marL="800100" lvl="2" indent="0">
              <a:buNone/>
            </a:pPr>
            <a:r>
              <a:rPr lang="en-US" sz="1600" dirty="0">
                <a:cs typeface="Arial" pitchFamily="34" charset="0"/>
              </a:rPr>
              <a:t>Freeze the user features and treat all item features as variables</a:t>
            </a:r>
          </a:p>
          <a:p>
            <a:pPr marL="800100" lvl="2" indent="0">
              <a:buNone/>
            </a:pPr>
            <a:r>
              <a:rPr lang="en-US" sz="1600" dirty="0">
                <a:cs typeface="Arial" pitchFamily="34" charset="0"/>
              </a:rPr>
              <a:t>Solve the resulting Least Squares Problem</a:t>
            </a:r>
          </a:p>
          <a:p>
            <a:pPr marL="800100" lvl="2" indent="0">
              <a:buNone/>
            </a:pPr>
            <a:endParaRPr lang="en-US" sz="1600" dirty="0">
              <a:cs typeface="Arial" pitchFamily="34" charset="0"/>
            </a:endParaRPr>
          </a:p>
          <a:p>
            <a:pPr marL="800100" lvl="2" indent="0">
              <a:buNone/>
            </a:pPr>
            <a:r>
              <a:rPr lang="en-US" sz="1600" dirty="0">
                <a:cs typeface="Arial" pitchFamily="34" charset="0"/>
              </a:rPr>
              <a:t>Freeze the item features and unfreeze the user features</a:t>
            </a:r>
          </a:p>
          <a:p>
            <a:pPr marL="800100" lvl="2" indent="0">
              <a:buNone/>
            </a:pPr>
            <a:r>
              <a:rPr lang="en-US" sz="1600" dirty="0">
                <a:cs typeface="Arial" pitchFamily="34" charset="0"/>
              </a:rPr>
              <a:t>Solve the resulting Least Squares Problem</a:t>
            </a:r>
          </a:p>
          <a:p>
            <a:pPr marL="457200" lvl="1" indent="0">
              <a:buNone/>
            </a:pPr>
            <a:r>
              <a:rPr lang="en-US" sz="1600" dirty="0">
                <a:cs typeface="Arial" pitchFamily="34" charset="0"/>
              </a:rPr>
              <a:t>      until convergence</a:t>
            </a:r>
          </a:p>
          <a:p>
            <a:pPr marL="385763" indent="-385763">
              <a:buAutoNum type="arabicPeriod"/>
            </a:pPr>
            <a:endParaRPr lang="en-US" sz="1400" dirty="0">
              <a:cs typeface="Arial" pitchFamily="34" charset="0"/>
            </a:endParaRPr>
          </a:p>
          <a:p>
            <a:r>
              <a:rPr lang="en-NL" sz="1800" dirty="0"/>
              <a:t>Attractive parallelisation properties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8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>
            <a:normAutofit/>
          </a:bodyPr>
          <a:lstStyle/>
          <a:p>
            <a:r>
              <a:rPr lang="en-US" sz="3600" dirty="0"/>
              <a:t>Interpretation of dimensions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4664EFE-6742-86DC-9013-E49912A577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  <p:graphicFrame>
        <p:nvGraphicFramePr>
          <p:cNvPr id="23555" name="Object 4"/>
          <p:cNvGraphicFramePr>
            <a:graphicFrameLocks noChangeAspect="1"/>
          </p:cNvGraphicFramePr>
          <p:nvPr/>
        </p:nvGraphicFramePr>
        <p:xfrm>
          <a:off x="1143000" y="4000500"/>
          <a:ext cx="6858000" cy="1252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5989680" imgH="989640" progId="Excel.Sheet.8">
                  <p:embed/>
                </p:oleObj>
              </mc:Choice>
              <mc:Fallback>
                <p:oleObj name="Worksheet" r:id="rId3" imgW="5989680" imgH="989640" progId="Excel.Sheet.8">
                  <p:embed/>
                  <p:pic>
                    <p:nvPicPr>
                      <p:cNvPr id="2355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4000500"/>
                        <a:ext cx="6858000" cy="1252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6" name="Object 5"/>
          <p:cNvGraphicFramePr>
            <a:graphicFrameLocks noChangeAspect="1"/>
          </p:cNvGraphicFramePr>
          <p:nvPr/>
        </p:nvGraphicFramePr>
        <p:xfrm>
          <a:off x="1143000" y="2400300"/>
          <a:ext cx="685800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5989680" imgH="989640" progId="Excel.Sheet.8">
                  <p:embed/>
                </p:oleObj>
              </mc:Choice>
              <mc:Fallback>
                <p:oleObj name="Worksheet" r:id="rId5" imgW="5989680" imgH="989640" progId="Excel.Sheet.8">
                  <p:embed/>
                  <p:pic>
                    <p:nvPicPr>
                      <p:cNvPr id="2355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2400300"/>
                        <a:ext cx="6858000" cy="114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9" name="Text Box 6"/>
          <p:cNvSpPr txBox="1">
            <a:spLocks noChangeArrowheads="1"/>
          </p:cNvSpPr>
          <p:nvPr/>
        </p:nvSpPr>
        <p:spPr bwMode="auto">
          <a:xfrm>
            <a:off x="1371600" y="2114550"/>
            <a:ext cx="1056378" cy="2774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69056" tIns="34529" rIns="69056" bIns="34529">
            <a:spAutoFit/>
          </a:bodyPr>
          <a:lstStyle/>
          <a:p>
            <a:pPr defTabSz="571500"/>
            <a:r>
              <a:rPr lang="en-US" sz="1350" dirty="0"/>
              <a:t>Dimension 1</a:t>
            </a:r>
            <a:endParaRPr lang="en-GB" sz="1350" dirty="0"/>
          </a:p>
        </p:txBody>
      </p:sp>
      <p:sp>
        <p:nvSpPr>
          <p:cNvPr id="23560" name="Text Box 7"/>
          <p:cNvSpPr txBox="1">
            <a:spLocks noChangeArrowheads="1"/>
          </p:cNvSpPr>
          <p:nvPr/>
        </p:nvSpPr>
        <p:spPr bwMode="auto">
          <a:xfrm>
            <a:off x="1371600" y="3657600"/>
            <a:ext cx="1056378" cy="2774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69056" tIns="34529" rIns="69056" bIns="34529">
            <a:spAutoFit/>
          </a:bodyPr>
          <a:lstStyle/>
          <a:p>
            <a:pPr defTabSz="571500"/>
            <a:r>
              <a:rPr lang="en-US" sz="1350" dirty="0"/>
              <a:t>Dimension 2</a:t>
            </a:r>
            <a:endParaRPr lang="en-GB" sz="13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370" name="Picture 2"/>
          <p:cNvPicPr>
            <a:picLocks noGrp="1" noChangeAspect="1" noChangeArrowheads="1"/>
          </p:cNvPicPr>
          <p:nvPr>
            <p:ph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0" y="-8467"/>
            <a:ext cx="9144000" cy="6858000"/>
          </a:xfr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074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>
            <a:noAutofit/>
          </a:bodyPr>
          <a:lstStyle/>
          <a:p>
            <a:r>
              <a:rPr lang="en-US" sz="3600" dirty="0"/>
              <a:t>Boosting Accuracy: Blending Models</a:t>
            </a:r>
            <a:endParaRPr lang="en-US" sz="4000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FC0A652-C816-EB10-57EA-3DB4D9D74A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spcBef>
                <a:spcPct val="0"/>
              </a:spcBef>
              <a:buNone/>
            </a:pPr>
            <a:r>
              <a:rPr lang="en-US" sz="1800" b="1" dirty="0">
                <a:cs typeface="Arial" pitchFamily="34" charset="0"/>
              </a:rPr>
              <a:t>Main idea: </a:t>
            </a: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sz="1800" dirty="0">
                <a:cs typeface="Arial" pitchFamily="34" charset="0"/>
              </a:rPr>
              <a:t>Build many models with help of several techniques, on various samples of data and </a:t>
            </a:r>
            <a:r>
              <a:rPr lang="en-US" sz="1800" i="1" dirty="0">
                <a:cs typeface="Arial" pitchFamily="34" charset="0"/>
              </a:rPr>
              <a:t>blend</a:t>
            </a:r>
            <a:r>
              <a:rPr lang="en-US" sz="1800" dirty="0">
                <a:cs typeface="Arial" pitchFamily="34" charset="0"/>
              </a:rPr>
              <a:t> the predictions</a:t>
            </a: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sz="1800" i="1" dirty="0">
                <a:cs typeface="Arial" pitchFamily="34" charset="0"/>
              </a:rPr>
              <a:t>Blending</a:t>
            </a:r>
            <a:r>
              <a:rPr lang="en-US" sz="1800" dirty="0">
                <a:cs typeface="Arial" pitchFamily="34" charset="0"/>
              </a:rPr>
              <a:t>: applying linear regression to find optimal coefficients of a linear combination of models</a:t>
            </a: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sz="1800" dirty="0">
                <a:cs typeface="Arial" pitchFamily="34" charset="0"/>
              </a:rPr>
              <a:t>Winning submissions used combinations of 100-200 models, built with 3-5 main algorithms</a:t>
            </a: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sz="1800" dirty="0">
                <a:cs typeface="Arial" pitchFamily="34" charset="0"/>
              </a:rPr>
              <a:t>Combining models of different types (e.g., SVD, </a:t>
            </a:r>
            <a:r>
              <a:rPr lang="en-US" sz="1800" dirty="0" err="1">
                <a:cs typeface="Arial" pitchFamily="34" charset="0"/>
              </a:rPr>
              <a:t>kNN</a:t>
            </a:r>
            <a:r>
              <a:rPr lang="en-US" sz="1800" dirty="0">
                <a:cs typeface="Arial" pitchFamily="34" charset="0"/>
              </a:rPr>
              <a:t>, RBM) is very beneficial!</a:t>
            </a:r>
          </a:p>
          <a:p>
            <a:pPr marL="0" indent="0" eaLnBrk="1" hangingPunct="1">
              <a:lnSpc>
                <a:spcPct val="100000"/>
              </a:lnSpc>
              <a:spcBef>
                <a:spcPct val="0"/>
              </a:spcBef>
              <a:buNone/>
            </a:pPr>
            <a:endParaRPr lang="en-US" sz="195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594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>
            <a:normAutofit/>
          </a:bodyPr>
          <a:lstStyle/>
          <a:p>
            <a:r>
              <a:rPr lang="en-US" sz="3600" dirty="0"/>
              <a:t>Links …</a:t>
            </a:r>
            <a:endParaRPr lang="en-US" sz="6000" b="1" dirty="0"/>
          </a:p>
        </p:txBody>
      </p:sp>
      <p:sp>
        <p:nvSpPr>
          <p:cNvPr id="366596" name="Text Box 4"/>
          <p:cNvSpPr txBox="1">
            <a:spLocks noChangeArrowheads="1"/>
          </p:cNvSpPr>
          <p:nvPr/>
        </p:nvSpPr>
        <p:spPr bwMode="auto">
          <a:xfrm>
            <a:off x="1314450" y="2200276"/>
            <a:ext cx="6515100" cy="21472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69056" tIns="34529" rIns="69056" bIns="34529">
            <a:spAutoFit/>
          </a:bodyPr>
          <a:lstStyle/>
          <a:p>
            <a:pPr defTabSz="571500"/>
            <a:r>
              <a:rPr lang="en-US" sz="1350" dirty="0">
                <a:solidFill>
                  <a:schemeClr val="accent2"/>
                </a:solidFill>
              </a:rPr>
              <a:t>More references:</a:t>
            </a:r>
          </a:p>
          <a:p>
            <a:pPr defTabSz="571500"/>
            <a:r>
              <a:rPr lang="en-US" sz="1350" dirty="0">
                <a:hlinkClick r:id="rId3"/>
              </a:rPr>
              <a:t>https://en.wikipedia.org/wiki/Netflix_Prize</a:t>
            </a:r>
            <a:endParaRPr lang="en-US" sz="1350" dirty="0"/>
          </a:p>
          <a:p>
            <a:pPr defTabSz="571500"/>
            <a:endParaRPr lang="en-US" sz="1350" dirty="0">
              <a:solidFill>
                <a:schemeClr val="accent2"/>
              </a:solidFill>
            </a:endParaRPr>
          </a:p>
          <a:p>
            <a:pPr defTabSz="571500"/>
            <a:r>
              <a:rPr lang="en-US" sz="1350" dirty="0">
                <a:solidFill>
                  <a:schemeClr val="accent2"/>
                </a:solidFill>
              </a:rPr>
              <a:t>Simon Funk approach:</a:t>
            </a:r>
          </a:p>
          <a:p>
            <a:pPr defTabSz="571500"/>
            <a:r>
              <a:rPr lang="en-US" sz="1350" u="sng" dirty="0">
                <a:hlinkClick r:id="rId4"/>
              </a:rPr>
              <a:t>http://sifter.org/~simon/journal/20061211.html </a:t>
            </a:r>
            <a:endParaRPr lang="en-US" sz="1350" u="sng" dirty="0"/>
          </a:p>
          <a:p>
            <a:pPr defTabSz="571500"/>
            <a:endParaRPr lang="en-US" sz="1350" dirty="0">
              <a:solidFill>
                <a:schemeClr val="accent2"/>
              </a:solidFill>
            </a:endParaRPr>
          </a:p>
          <a:p>
            <a:pPr defTabSz="571500"/>
            <a:r>
              <a:rPr lang="en-US" sz="1350" dirty="0">
                <a:solidFill>
                  <a:schemeClr val="accent2"/>
                </a:solidFill>
              </a:rPr>
              <a:t>Netflix Workshop KDD2007:</a:t>
            </a:r>
          </a:p>
          <a:p>
            <a:pPr defTabSz="571500"/>
            <a:r>
              <a:rPr lang="en-US" sz="1350" dirty="0">
                <a:hlinkClick r:id="rId5"/>
              </a:rPr>
              <a:t>http://www.cs.uic.edu/~liub/KDD-cup-2007/proceedings.html</a:t>
            </a:r>
            <a:endParaRPr lang="en-US" sz="1350" dirty="0"/>
          </a:p>
          <a:p>
            <a:pPr defTabSz="571500"/>
            <a:endParaRPr lang="en-US" sz="1350" dirty="0"/>
          </a:p>
          <a:p>
            <a:pPr defTabSz="571500"/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1381</TotalTime>
  <Words>2360</Words>
  <Application>Microsoft Macintosh PowerPoint</Application>
  <PresentationFormat>On-screen Show (4:3)</PresentationFormat>
  <Paragraphs>376</Paragraphs>
  <Slides>53</Slides>
  <Notes>32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53</vt:i4>
      </vt:variant>
    </vt:vector>
  </HeadingPairs>
  <TitlesOfParts>
    <vt:vector size="64" baseType="lpstr">
      <vt:lpstr>Arial</vt:lpstr>
      <vt:lpstr>Calibri</vt:lpstr>
      <vt:lpstr>Calibri Light</vt:lpstr>
      <vt:lpstr>Courier New</vt:lpstr>
      <vt:lpstr>Symbol</vt:lpstr>
      <vt:lpstr>Tahoma</vt:lpstr>
      <vt:lpstr>Times New Roman</vt:lpstr>
      <vt:lpstr>Wingdings</vt:lpstr>
      <vt:lpstr>Office Theme</vt:lpstr>
      <vt:lpstr>Equation</vt:lpstr>
      <vt:lpstr>Worksheet</vt:lpstr>
      <vt:lpstr>Recommender Systems</vt:lpstr>
      <vt:lpstr>Contents</vt:lpstr>
      <vt:lpstr>Recommender Systems</vt:lpstr>
      <vt:lpstr>Recommendation is Everywhere</vt:lpstr>
      <vt:lpstr>Recommendation is Everywhere</vt:lpstr>
      <vt:lpstr>Recommendation is Everywhere</vt:lpstr>
      <vt:lpstr>Recommender Systems: How do they Work?</vt:lpstr>
      <vt:lpstr>Common Scenario: Estimate R(User, Item)</vt:lpstr>
      <vt:lpstr>Naive Approach</vt:lpstr>
      <vt:lpstr>Naive Approach</vt:lpstr>
      <vt:lpstr>Content-Based Approach</vt:lpstr>
      <vt:lpstr>Example Item Profiles</vt:lpstr>
      <vt:lpstr>Model-based Approach</vt:lpstr>
      <vt:lpstr>Collaborative Filtering</vt:lpstr>
      <vt:lpstr>User-User Recommendations</vt:lpstr>
      <vt:lpstr>Find Nearest Neighbours </vt:lpstr>
      <vt:lpstr>Find Nearest Neighbours </vt:lpstr>
      <vt:lpstr>User-User Collaborative Filtering</vt:lpstr>
      <vt:lpstr>User-User Collaborative Filtering</vt:lpstr>
      <vt:lpstr>User-User Collaborative Filtering</vt:lpstr>
      <vt:lpstr>User-User Collaborative Filtering</vt:lpstr>
      <vt:lpstr>Item-Item Collaborative Filtering</vt:lpstr>
      <vt:lpstr>Item-Item Collaborative Filtering</vt:lpstr>
      <vt:lpstr>Item-Item Collaborative Filtering</vt:lpstr>
      <vt:lpstr>Item-Item Collaborative Filtering</vt:lpstr>
      <vt:lpstr>User-User and Item-Item</vt:lpstr>
      <vt:lpstr>Collaborative Filtering: Summary</vt:lpstr>
      <vt:lpstr>break</vt:lpstr>
      <vt:lpstr>Netflix Challenge &amp; Matrix Factorisation</vt:lpstr>
      <vt:lpstr>Netflix Now and Then</vt:lpstr>
      <vt:lpstr>Netflix Now and Then</vt:lpstr>
      <vt:lpstr>PowerPoint Presentation</vt:lpstr>
      <vt:lpstr>What is NETFLIX (in 2006)?</vt:lpstr>
      <vt:lpstr>NETFLIX (2006) expected in 2010-2012</vt:lpstr>
      <vt:lpstr>The Netflix Challenge</vt:lpstr>
      <vt:lpstr>The Netflix Challenge </vt:lpstr>
      <vt:lpstr>Submission Validation</vt:lpstr>
      <vt:lpstr>Participation</vt:lpstr>
      <vt:lpstr>The Winner is …</vt:lpstr>
      <vt:lpstr>Matrix Factorisation</vt:lpstr>
      <vt:lpstr>Minimize Error Function</vt:lpstr>
      <vt:lpstr>Simple Line Search (Chapter 9 of the MMDS book)</vt:lpstr>
      <vt:lpstr>Gradient Descent Algorithm</vt:lpstr>
      <vt:lpstr>Gradient Descent</vt:lpstr>
      <vt:lpstr>SGD Matrix Factorisation: Simon Funk’s Submission</vt:lpstr>
      <vt:lpstr>Simon Funk’s Trick</vt:lpstr>
      <vt:lpstr>Iterative Stochastic Gradient Descent</vt:lpstr>
      <vt:lpstr>Regularisation</vt:lpstr>
      <vt:lpstr>Alternating Least Squares</vt:lpstr>
      <vt:lpstr>Interpretation of dimensions</vt:lpstr>
      <vt:lpstr>PowerPoint Presentation</vt:lpstr>
      <vt:lpstr>Boosting Accuracy: Blending Models</vt:lpstr>
      <vt:lpstr>Links 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Sports Data Science</dc:title>
  <dc:creator>Arno Knobbe</dc:creator>
  <cp:lastModifiedBy>Arno Knobbe</cp:lastModifiedBy>
  <cp:revision>22</cp:revision>
  <dcterms:created xsi:type="dcterms:W3CDTF">2020-12-03T11:35:22Z</dcterms:created>
  <dcterms:modified xsi:type="dcterms:W3CDTF">2026-09-08T12:45:16Z</dcterms:modified>
</cp:coreProperties>
</file>